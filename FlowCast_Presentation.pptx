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Average error (%)</c:v>
                </c:pt>
              </c:strCache>
            </c:strRef>
          </c:tx>
          <c:spPr>
            <a:solidFill>
              <a:srgbClr val="4FB3D9"/>
            </a:solidFill>
            <a:effectLst/>
          </c:spPr>
          <c:invertIfNegative val="0"/>
          <c:dLbls>
            <c:numFmt formatCode="0.0&quot;%&quot;" sourceLinked="0"/>
            <c:txPr>
              <a:bodyPr/>
              <a:lstStyle/>
              <a:p>
                <a:pPr>
                  <a:defRPr b="0" i="0" strike="noStrike" sz="1300" u="none">
                    <a:solidFill>
                      <a:srgbClr val="E8EEF1"/>
                    </a:solidFill>
                    <a:latin typeface="Verdana"/>
                  </a:defRPr>
                </a:pPr>
              </a:p>
            </c:txPr>
            <c:showLegendKey val="0"/>
            <c:showVal val="1"/>
            <c:showCatName val="0"/>
            <c:showSerName val="0"/>
            <c:showPercent val="0"/>
            <c:showBubbleSize val="0"/>
            <c:showLeaderLines val="0"/>
          </c:dLbls>
          <c:cat>
            <c:multiLvlStrRef>
              <c:f>Sheet1!$A$2:$A$7</c:f>
              <c:multiLvlStrCache>
                <c:ptCount val="6"/>
                <c:lvl>
                  <c:pt idx="0">
                    <c:v>Always guess average</c:v>
                  </c:pt>
                  <c:pt idx="1">
                    <c:v>Assume no change</c:v>
                  </c:pt>
                  <c:pt idx="2">
                    <c:v>Linear Regression</c:v>
                  </c:pt>
                  <c:pt idx="3">
                    <c:v>Decision Tree</c:v>
                  </c:pt>
                  <c:pt idx="4">
                    <c:v>Random Forest</c:v>
                  </c:pt>
                  <c:pt idx="5">
                    <c:v>XGBoost</c:v>
                  </c:pt>
                </c:lvl>
              </c:multiLvlStrCache>
            </c:multiLvlStrRef>
          </c:cat>
          <c:val>
            <c:numRef>
              <c:f>Sheet1!$B$2:$B$7</c:f>
              <c:numCache>
                <c:formatCode>General</c:formatCode>
                <c:ptCount val="6"/>
                <c:pt idx="0">
                  <c:v>83.3</c:v>
                </c:pt>
                <c:pt idx="1">
                  <c:v>16</c:v>
                </c:pt>
                <c:pt idx="2">
                  <c:v>12.3</c:v>
                </c:pt>
                <c:pt idx="3">
                  <c:v>10.4</c:v>
                </c:pt>
                <c:pt idx="4">
                  <c:v>9.3</c:v>
                </c:pt>
                <c:pt idx="5">
                  <c:v>8.9</c:v>
                </c:pt>
              </c:numCache>
            </c:numRef>
          </c:val>
        </c:ser>
        <c:dLbls>
          <c:numFmt formatCode="0.0&quot;%&quot;" sourceLinked="0"/>
          <c:txPr>
            <a:bodyPr/>
            <a:lstStyle/>
            <a:p>
              <a:pPr>
                <a:defRPr b="0" i="0" strike="noStrike" sz="1300" u="none">
                  <a:solidFill>
                    <a:srgbClr val="E8EEF1"/>
                  </a:solidFill>
                  <a:latin typeface="Verdan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E8EEF1"/>
                </a:solidFill>
                <a:latin typeface="Verdana"/>
              </a:defRPr>
            </a:pPr>
            <a:endParaRPr lang="en-US"/>
          </a:p>
        </c:txPr>
        <c:crossAx val="2094734552"/>
        <c:crosses val="autoZero"/>
        <c:auto val="1"/>
        <c:lblAlgn val="ctr"/>
        <c:noMultiLvlLbl val="1"/>
      </c:catAx>
      <c:valAx>
        <c:axId val="2094734552"/>
        <c:scaling>
          <c:orientation val="minMax"/>
          <c:max val="90"/>
        </c:scaling>
        <c:delete val="0"/>
        <c:axPos val="b"/>
        <c:majorGridlines>
          <c:spPr>
            <a:ln w="12700" cap="flat">
              <a:solidFill>
                <a:srgbClr val="24404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7A96A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not the technology.
Say: 'A traffic control room can see the road as it is right now. But by the time they see a jam, it is already too late to prevent it. This system gives them 30 minutes of warning.'
Don't mention Python, XGBoost or any tool yet. Those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costs of being reactive. Keep this brisk — about 90 seconds.
The key line: every one of these is a consequence of only knowing the present. If you knew the next 30 minutes, all four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two words here, once: regression = predicting a number, classification = predicting a category. You'll use them for the rest of the talk.
If asked why 30 minutes: it's long enough to act on (retime signals, move a patrol) and short enough to still be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the data is synthetic — it's in the brief and pretending otherwise is a trap.
Stress that it was made messy ON PURPOSE. Handling the mess is the actual skill being tested, and it's the next three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your marks are. Don't rush.
For each one, say what you did AND why. Example: 'I quarantined the impossible readings rather than correcting them, because replacing a nonsense value with a plausible one is inventing data.'
Next slide is the important one — set it up: 'One of these is far more dangerous than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HERE. This is the single best thing in the project.
The point to land: this bug is invisible. Nothing errors. You only find it by checking that the number of rows matches what the timetable SHOULD contain.
If they ask how you found it: I counted what the complete grid should be (25 × 48 × 151) and compared it to what was actually in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data leakage in one sentence: giving the model information it wouldn't have in real life.
The punchline: a leaking model scores brilliantly and predicts nothing.
How it's prevented: every feature must come from at least 30 minutes before the moment being predicted, and 5 automated tests fail loudly if that's ever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sin/cos for the hour: raw hour numbers make 23 and 0 look 23 apart, but 11pm and midnight are adjacent. Sine and cosine wrap the clock into a circle.
'Rain during rush hour' is a good example to expand on — rain at 3am doesn't matter, rain at 6pm does. The model can't discover that combination on its own from two separate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WILL be asked. Rehearse the answer until it's automatic.
Short version: random splitting leaks the future into the past. Date splitting means the model learns only from the past and is tested only on the future.
Also know the difference between validation and test: validation is for tuning and can be used many times; test is used once at the very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bars at the top are deliberately bad, and that's the point.
'Assume no change' is free and needs no computer. It gets 16%. That is the real bar to beat.
Say: 'A score means nothing on its own. 8.9% is only meaningful next to the 16% you get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this one sentence until it's automatic:
'The system predicts traffic volume 30 minutes ahead with 8.9% average error, which is 45% more accurate than simply assuming nothing changes.'
Always say the second half. The first half alone is a number nobody can interpret.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hide these. Lead with them — they're your strongest material.
The distinction is what matters: one is a measurement artefact, the other is a data limitation. Knowing which is which is the skill.
Set up the next slide: 'When a model underperforms there are only two possible reasons, and they need opposite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impressive thing in the project. Take your time.
The logic: if the information existed and I was extracting it badly, letting the model cheat would have helped a lot. It gained 0.006 — nothing. So the ceiling is about 0.64.
What's actually missing: road layout, lane counts, historical crash locations, and second-by-second speed variation. A 30-minute average smooths away the sudden braking that precedes a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closing point for the failure section: the model missed its target but is still worth deploying, provided you're honest about what it does.
This is a mature engineering position and mentors respond well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the LSTM works: it reads the recent history as a sequence in order and carries a memory, rather than seeing the lag values as separate unrelated numbers.
If pushed on the internal maths, say you understand it conceptually but not the gate equations in detail. That's an honest and respectable answer.
The recommendation AGAINST the neural network is the strong point here — say it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to use: 'A crash tells you something is wrong. A data leak doesn't — it just gives you a great score that means nothing. So the tests target the failures you can't see.'
If asked to demonstrate: python -m pytest tests/ -q takes about 3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run the full pipeline live — it takes 25 minutes.
Have both ready BEFORE you start:
1. A terminal already in the folder with (.venv) showing
2. The dashboard already running in a browser tab
If the dashboard misbehaves, fall back to python demo.py.
Open the dashboard on Live prediction, then show the Congestion heatmap — it's the most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failures, not the successes. They're what show you understood the work.
Final line to say: 'The two targets I missed taught me more than the ones I met — especially the accident one, because I could prove the limit was in the data rather than guess at it.'
Then stop talking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822960" y="1920240"/>
            <a:ext cx="10515600" cy="1188720"/>
          </a:xfrm>
          <a:prstGeom prst="rect">
            <a:avLst/>
          </a:prstGeom>
          <a:noFill/>
          <a:ln/>
        </p:spPr>
        <p:txBody>
          <a:bodyPr wrap="square" rtlCol="0" anchor="ctr"/>
          <a:lstStyle/>
          <a:p>
            <a:pPr indent="0" marL="0">
              <a:buNone/>
            </a:pPr>
            <a:r>
              <a:rPr lang="en-US" sz="6000" b="1" dirty="0">
                <a:solidFill>
                  <a:srgbClr val="E8EEF1"/>
                </a:solidFill>
                <a:latin typeface="Verdana" pitchFamily="34" charset="0"/>
                <a:ea typeface="Verdana" pitchFamily="34" charset="-122"/>
                <a:cs typeface="Verdana" pitchFamily="34" charset="-120"/>
              </a:rPr>
              <a:t>FlowCast</a:t>
            </a:r>
            <a:endParaRPr lang="en-US" sz="6000" dirty="0"/>
          </a:p>
        </p:txBody>
      </p:sp>
      <p:sp>
        <p:nvSpPr>
          <p:cNvPr id="3" name="Text 1"/>
          <p:cNvSpPr/>
          <p:nvPr/>
        </p:nvSpPr>
        <p:spPr>
          <a:xfrm>
            <a:off x="822960" y="3017520"/>
            <a:ext cx="10515600" cy="548640"/>
          </a:xfrm>
          <a:prstGeom prst="rect">
            <a:avLst/>
          </a:prstGeom>
          <a:noFill/>
          <a:ln/>
        </p:spPr>
        <p:txBody>
          <a:bodyPr wrap="square" rtlCol="0" anchor="ctr"/>
          <a:lstStyle/>
          <a:p>
            <a:pPr indent="0" marL="0">
              <a:buNone/>
            </a:pPr>
            <a:r>
              <a:rPr lang="en-US" sz="2200" dirty="0">
                <a:solidFill>
                  <a:srgbClr val="4FB3D9"/>
                </a:solidFill>
                <a:latin typeface="Verdana" pitchFamily="34" charset="0"/>
                <a:ea typeface="Verdana" pitchFamily="34" charset="-122"/>
                <a:cs typeface="Verdana" pitchFamily="34" charset="-120"/>
              </a:rPr>
              <a:t>Predicting city traffic 30 minutes before it happens</a:t>
            </a:r>
            <a:endParaRPr lang="en-US" sz="2200" dirty="0"/>
          </a:p>
        </p:txBody>
      </p:sp>
      <p:sp>
        <p:nvSpPr>
          <p:cNvPr id="4" name="Text 2"/>
          <p:cNvSpPr/>
          <p:nvPr/>
        </p:nvSpPr>
        <p:spPr>
          <a:xfrm>
            <a:off x="822960" y="3749040"/>
            <a:ext cx="10515600" cy="457200"/>
          </a:xfrm>
          <a:prstGeom prst="rect">
            <a:avLst/>
          </a:prstGeom>
          <a:noFill/>
          <a:ln/>
        </p:spPr>
        <p:txBody>
          <a:bodyPr wrap="square" rtlCol="0" anchor="ctr"/>
          <a:lstStyle/>
          <a:p>
            <a:pPr indent="0" marL="0">
              <a:buNone/>
            </a:pPr>
            <a:r>
              <a:rPr lang="en-US" sz="1400" dirty="0">
                <a:solidFill>
                  <a:srgbClr val="7A96A5"/>
                </a:solidFill>
                <a:latin typeface="Verdana" pitchFamily="34" charset="0"/>
                <a:ea typeface="Verdana" pitchFamily="34" charset="-122"/>
                <a:cs typeface="Verdana" pitchFamily="34" charset="-120"/>
              </a:rPr>
              <a:t>A machine-learning system for the Northline Corridor  ·  25 road segments  ·  5 months of sensor data</a:t>
            </a:r>
            <a:endParaRPr lang="en-US" sz="1400" dirty="0"/>
          </a:p>
        </p:txBody>
      </p:sp>
      <p:sp>
        <p:nvSpPr>
          <p:cNvPr id="5" name="Shape 3"/>
          <p:cNvSpPr/>
          <p:nvPr/>
        </p:nvSpPr>
        <p:spPr>
          <a:xfrm>
            <a:off x="822960" y="4663440"/>
            <a:ext cx="2011680" cy="41148"/>
          </a:xfrm>
          <a:prstGeom prst="rect">
            <a:avLst/>
          </a:prstGeom>
          <a:solidFill>
            <a:srgbClr val="2E9E8F"/>
          </a:solidFill>
          <a:ln/>
        </p:spPr>
      </p:sp>
      <p:sp>
        <p:nvSpPr>
          <p:cNvPr id="6" name="Text 4"/>
          <p:cNvSpPr/>
          <p:nvPr/>
        </p:nvSpPr>
        <p:spPr>
          <a:xfrm>
            <a:off x="822960" y="4892040"/>
            <a:ext cx="7315200" cy="365760"/>
          </a:xfrm>
          <a:prstGeom prst="rect">
            <a:avLst/>
          </a:prstGeom>
          <a:noFill/>
          <a:ln/>
        </p:spPr>
        <p:txBody>
          <a:bodyPr wrap="square" rtlCol="0" anchor="ctr"/>
          <a:lstStyle/>
          <a:p>
            <a:pPr indent="0" marL="0">
              <a:buNone/>
            </a:pPr>
            <a:r>
              <a:rPr lang="en-US" sz="1300" dirty="0">
                <a:solidFill>
                  <a:srgbClr val="7A96A5"/>
                </a:solidFill>
                <a:latin typeface="Verdana" pitchFamily="34" charset="0"/>
                <a:ea typeface="Verdana" pitchFamily="34" charset="-122"/>
                <a:cs typeface="Verdana" pitchFamily="34" charset="-120"/>
              </a:rPr>
              <a:t>Internship Project  ·  Data &amp; AI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THE PROBLEM</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Control rooms react. They don't predict.</a:t>
            </a:r>
            <a:endParaRPr lang="en-US" sz="3400" dirty="0"/>
          </a:p>
        </p:txBody>
      </p:sp>
      <p:sp>
        <p:nvSpPr>
          <p:cNvPr id="4" name="Shape 2"/>
          <p:cNvSpPr/>
          <p:nvPr/>
        </p:nvSpPr>
        <p:spPr>
          <a:xfrm>
            <a:off x="640080" y="1783080"/>
            <a:ext cx="10881360" cy="868680"/>
          </a:xfrm>
          <a:prstGeom prst="roundRect">
            <a:avLst>
              <a:gd name="adj" fmla="val 8421"/>
            </a:avLst>
          </a:prstGeom>
          <a:solidFill>
            <a:srgbClr val="1E3542"/>
          </a:solidFill>
          <a:ln w="12700">
            <a:solidFill>
              <a:srgbClr val="24404F"/>
            </a:solidFill>
            <a:prstDash val="solid"/>
          </a:ln>
        </p:spPr>
      </p:sp>
      <p:sp>
        <p:nvSpPr>
          <p:cNvPr id="5" name="Text 3"/>
          <p:cNvSpPr/>
          <p:nvPr/>
        </p:nvSpPr>
        <p:spPr>
          <a:xfrm>
            <a:off x="868680" y="1892808"/>
            <a:ext cx="4206240" cy="365760"/>
          </a:xfrm>
          <a:prstGeom prst="rect">
            <a:avLst/>
          </a:prstGeom>
          <a:noFill/>
          <a:ln/>
        </p:spPr>
        <p:txBody>
          <a:bodyPr wrap="square" lIns="0" tIns="0" rIns="0" bIns="0" rtlCol="0" anchor="ctr"/>
          <a:lstStyle/>
          <a:p>
            <a:pPr indent="0" marL="0">
              <a:buNone/>
            </a:pPr>
            <a:r>
              <a:rPr lang="en-US" sz="1500" b="1" dirty="0">
                <a:solidFill>
                  <a:srgbClr val="E8EEF1"/>
                </a:solidFill>
                <a:latin typeface="Verdana" pitchFamily="34" charset="0"/>
                <a:ea typeface="Verdana" pitchFamily="34" charset="-122"/>
                <a:cs typeface="Verdana" pitchFamily="34" charset="-120"/>
              </a:rPr>
              <a:t>Signal timings are fixed by clock</a:t>
            </a:r>
            <a:endParaRPr lang="en-US" sz="1500" dirty="0"/>
          </a:p>
        </p:txBody>
      </p:sp>
      <p:sp>
        <p:nvSpPr>
          <p:cNvPr id="6" name="Text 4"/>
          <p:cNvSpPr/>
          <p:nvPr/>
        </p:nvSpPr>
        <p:spPr>
          <a:xfrm>
            <a:off x="5212080" y="1911096"/>
            <a:ext cx="6035040" cy="54864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They can't respond when congestion builds faster than expected</a:t>
            </a:r>
            <a:endParaRPr lang="en-US" sz="1300" dirty="0"/>
          </a:p>
        </p:txBody>
      </p:sp>
      <p:sp>
        <p:nvSpPr>
          <p:cNvPr id="7" name="Shape 5"/>
          <p:cNvSpPr/>
          <p:nvPr/>
        </p:nvSpPr>
        <p:spPr>
          <a:xfrm>
            <a:off x="640080" y="2834640"/>
            <a:ext cx="10881360" cy="868680"/>
          </a:xfrm>
          <a:prstGeom prst="roundRect">
            <a:avLst>
              <a:gd name="adj" fmla="val 8421"/>
            </a:avLst>
          </a:prstGeom>
          <a:solidFill>
            <a:srgbClr val="1E3542"/>
          </a:solidFill>
          <a:ln w="12700">
            <a:solidFill>
              <a:srgbClr val="24404F"/>
            </a:solidFill>
            <a:prstDash val="solid"/>
          </a:ln>
        </p:spPr>
      </p:sp>
      <p:sp>
        <p:nvSpPr>
          <p:cNvPr id="8" name="Text 6"/>
          <p:cNvSpPr/>
          <p:nvPr/>
        </p:nvSpPr>
        <p:spPr>
          <a:xfrm>
            <a:off x="868680" y="2944368"/>
            <a:ext cx="4206240" cy="365760"/>
          </a:xfrm>
          <a:prstGeom prst="rect">
            <a:avLst/>
          </a:prstGeom>
          <a:noFill/>
          <a:ln/>
        </p:spPr>
        <p:txBody>
          <a:bodyPr wrap="square" lIns="0" tIns="0" rIns="0" bIns="0" rtlCol="0" anchor="ctr"/>
          <a:lstStyle/>
          <a:p>
            <a:pPr indent="0" marL="0">
              <a:buNone/>
            </a:pPr>
            <a:r>
              <a:rPr lang="en-US" sz="1500" b="1" dirty="0">
                <a:solidFill>
                  <a:srgbClr val="E8EEF1"/>
                </a:solidFill>
                <a:latin typeface="Verdana" pitchFamily="34" charset="0"/>
                <a:ea typeface="Verdana" pitchFamily="34" charset="-122"/>
                <a:cs typeface="Verdana" pitchFamily="34" charset="-120"/>
              </a:rPr>
              <a:t>Incidents are spotted manually</a:t>
            </a:r>
            <a:endParaRPr lang="en-US" sz="1500" dirty="0"/>
          </a:p>
        </p:txBody>
      </p:sp>
      <p:sp>
        <p:nvSpPr>
          <p:cNvPr id="9" name="Text 7"/>
          <p:cNvSpPr/>
          <p:nvPr/>
        </p:nvSpPr>
        <p:spPr>
          <a:xfrm>
            <a:off x="5212080" y="2962656"/>
            <a:ext cx="6035040" cy="54864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Patrols are positioned after a crash, not before</a:t>
            </a:r>
            <a:endParaRPr lang="en-US" sz="1300" dirty="0"/>
          </a:p>
        </p:txBody>
      </p:sp>
      <p:sp>
        <p:nvSpPr>
          <p:cNvPr id="10" name="Shape 8"/>
          <p:cNvSpPr/>
          <p:nvPr/>
        </p:nvSpPr>
        <p:spPr>
          <a:xfrm>
            <a:off x="640080" y="3886200"/>
            <a:ext cx="10881360" cy="868680"/>
          </a:xfrm>
          <a:prstGeom prst="roundRect">
            <a:avLst>
              <a:gd name="adj" fmla="val 8421"/>
            </a:avLst>
          </a:prstGeom>
          <a:solidFill>
            <a:srgbClr val="1E3542"/>
          </a:solidFill>
          <a:ln w="12700">
            <a:solidFill>
              <a:srgbClr val="24404F"/>
            </a:solidFill>
            <a:prstDash val="solid"/>
          </a:ln>
        </p:spPr>
      </p:sp>
      <p:sp>
        <p:nvSpPr>
          <p:cNvPr id="11" name="Text 9"/>
          <p:cNvSpPr/>
          <p:nvPr/>
        </p:nvSpPr>
        <p:spPr>
          <a:xfrm>
            <a:off x="868680" y="3995928"/>
            <a:ext cx="4206240" cy="365760"/>
          </a:xfrm>
          <a:prstGeom prst="rect">
            <a:avLst/>
          </a:prstGeom>
          <a:noFill/>
          <a:ln/>
        </p:spPr>
        <p:txBody>
          <a:bodyPr wrap="square" lIns="0" tIns="0" rIns="0" bIns="0" rtlCol="0" anchor="ctr"/>
          <a:lstStyle/>
          <a:p>
            <a:pPr indent="0" marL="0">
              <a:buNone/>
            </a:pPr>
            <a:r>
              <a:rPr lang="en-US" sz="1500" b="1" dirty="0">
                <a:solidFill>
                  <a:srgbClr val="E8EEF1"/>
                </a:solidFill>
                <a:latin typeface="Verdana" pitchFamily="34" charset="0"/>
                <a:ea typeface="Verdana" pitchFamily="34" charset="-122"/>
                <a:cs typeface="Verdana" pitchFamily="34" charset="-120"/>
              </a:rPr>
              <a:t>Weather isn't accounted for</a:t>
            </a:r>
            <a:endParaRPr lang="en-US" sz="1500" dirty="0"/>
          </a:p>
        </p:txBody>
      </p:sp>
      <p:sp>
        <p:nvSpPr>
          <p:cNvPr id="12" name="Text 10"/>
          <p:cNvSpPr/>
          <p:nvPr/>
        </p:nvSpPr>
        <p:spPr>
          <a:xfrm>
            <a:off x="5212080" y="4014216"/>
            <a:ext cx="6035040" cy="54864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Rain changes flow in ways a fixed plan never anticipates</a:t>
            </a:r>
            <a:endParaRPr lang="en-US" sz="1300" dirty="0"/>
          </a:p>
        </p:txBody>
      </p:sp>
      <p:sp>
        <p:nvSpPr>
          <p:cNvPr id="13" name="Shape 11"/>
          <p:cNvSpPr/>
          <p:nvPr/>
        </p:nvSpPr>
        <p:spPr>
          <a:xfrm>
            <a:off x="640080" y="4937760"/>
            <a:ext cx="10881360" cy="868680"/>
          </a:xfrm>
          <a:prstGeom prst="roundRect">
            <a:avLst>
              <a:gd name="adj" fmla="val 8421"/>
            </a:avLst>
          </a:prstGeom>
          <a:solidFill>
            <a:srgbClr val="1E3542"/>
          </a:solidFill>
          <a:ln w="12700">
            <a:solidFill>
              <a:srgbClr val="24404F"/>
            </a:solidFill>
            <a:prstDash val="solid"/>
          </a:ln>
        </p:spPr>
      </p:sp>
      <p:sp>
        <p:nvSpPr>
          <p:cNvPr id="14" name="Text 12"/>
          <p:cNvSpPr/>
          <p:nvPr/>
        </p:nvSpPr>
        <p:spPr>
          <a:xfrm>
            <a:off x="868680" y="5047488"/>
            <a:ext cx="4206240" cy="365760"/>
          </a:xfrm>
          <a:prstGeom prst="rect">
            <a:avLst/>
          </a:prstGeom>
          <a:noFill/>
          <a:ln/>
        </p:spPr>
        <p:txBody>
          <a:bodyPr wrap="square" lIns="0" tIns="0" rIns="0" bIns="0" rtlCol="0" anchor="ctr"/>
          <a:lstStyle/>
          <a:p>
            <a:pPr indent="0" marL="0">
              <a:buNone/>
            </a:pPr>
            <a:r>
              <a:rPr lang="en-US" sz="1500" b="1" dirty="0">
                <a:solidFill>
                  <a:srgbClr val="E8EEF1"/>
                </a:solidFill>
                <a:latin typeface="Verdana" pitchFamily="34" charset="0"/>
                <a:ea typeface="Verdana" pitchFamily="34" charset="-122"/>
                <a:cs typeface="Verdana" pitchFamily="34" charset="-120"/>
              </a:rPr>
              <a:t>Planners work on intuition</a:t>
            </a:r>
            <a:endParaRPr lang="en-US" sz="1500" dirty="0"/>
          </a:p>
        </p:txBody>
      </p:sp>
      <p:sp>
        <p:nvSpPr>
          <p:cNvPr id="15" name="Text 13"/>
          <p:cNvSpPr/>
          <p:nvPr/>
        </p:nvSpPr>
        <p:spPr>
          <a:xfrm>
            <a:off x="5212080" y="5065776"/>
            <a:ext cx="6035040" cy="54864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No single evidence base linking weather, events and flow</a:t>
            </a:r>
            <a:endParaRPr lang="en-US" sz="1300" dirty="0"/>
          </a:p>
        </p:txBody>
      </p:sp>
      <p:sp>
        <p:nvSpPr>
          <p:cNvPr id="16" name="Text 14"/>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The corridor carries roughly 210,000 vehicle trips on a weekday.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THE SOLUTION</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One question, four answers, every 30 minutes</a:t>
            </a:r>
            <a:endParaRPr lang="en-US" sz="3400" dirty="0"/>
          </a:p>
        </p:txBody>
      </p:sp>
      <p:sp>
        <p:nvSpPr>
          <p:cNvPr id="4" name="Shape 2"/>
          <p:cNvSpPr/>
          <p:nvPr/>
        </p:nvSpPr>
        <p:spPr>
          <a:xfrm>
            <a:off x="640080" y="1737360"/>
            <a:ext cx="10881360" cy="914400"/>
          </a:xfrm>
          <a:prstGeom prst="roundRect">
            <a:avLst>
              <a:gd name="adj" fmla="val 8000"/>
            </a:avLst>
          </a:prstGeom>
          <a:solidFill>
            <a:srgbClr val="1E3542"/>
          </a:solidFill>
          <a:ln w="12700">
            <a:solidFill>
              <a:srgbClr val="24404F"/>
            </a:solidFill>
            <a:prstDash val="solid"/>
          </a:ln>
        </p:spPr>
      </p:sp>
      <p:sp>
        <p:nvSpPr>
          <p:cNvPr id="5" name="Text 3"/>
          <p:cNvSpPr/>
          <p:nvPr/>
        </p:nvSpPr>
        <p:spPr>
          <a:xfrm>
            <a:off x="914400" y="1874520"/>
            <a:ext cx="10332720" cy="640080"/>
          </a:xfrm>
          <a:prstGeom prst="rect">
            <a:avLst/>
          </a:prstGeom>
          <a:noFill/>
          <a:ln/>
        </p:spPr>
        <p:txBody>
          <a:bodyPr wrap="square" lIns="0" tIns="0" rIns="0" bIns="0" rtlCol="0" anchor="ctr"/>
          <a:lstStyle/>
          <a:p>
            <a:pPr indent="0" marL="0">
              <a:buNone/>
            </a:pPr>
            <a:r>
              <a:rPr lang="en-US" sz="1900" i="1" dirty="0">
                <a:solidFill>
                  <a:srgbClr val="4FB3D9"/>
                </a:solidFill>
                <a:latin typeface="Verdana" pitchFamily="34" charset="0"/>
                <a:ea typeface="Verdana" pitchFamily="34" charset="-122"/>
                <a:cs typeface="Verdana" pitchFamily="34" charset="-120"/>
              </a:rPr>
              <a:t>Given everything we know up to now — what will each road segment look like in 30 minutes?</a:t>
            </a:r>
            <a:endParaRPr lang="en-US" sz="1900" dirty="0"/>
          </a:p>
        </p:txBody>
      </p:sp>
      <p:sp>
        <p:nvSpPr>
          <p:cNvPr id="6" name="Shape 4"/>
          <p:cNvSpPr/>
          <p:nvPr/>
        </p:nvSpPr>
        <p:spPr>
          <a:xfrm>
            <a:off x="640080" y="2971800"/>
            <a:ext cx="2606040" cy="1828800"/>
          </a:xfrm>
          <a:prstGeom prst="roundRect">
            <a:avLst>
              <a:gd name="adj" fmla="val 4000"/>
            </a:avLst>
          </a:prstGeom>
          <a:solidFill>
            <a:srgbClr val="1E3542"/>
          </a:solidFill>
          <a:ln w="12700">
            <a:solidFill>
              <a:srgbClr val="24404F"/>
            </a:solidFill>
            <a:prstDash val="solid"/>
          </a:ln>
        </p:spPr>
      </p:sp>
      <p:sp>
        <p:nvSpPr>
          <p:cNvPr id="7" name="Text 5"/>
          <p:cNvSpPr/>
          <p:nvPr/>
        </p:nvSpPr>
        <p:spPr>
          <a:xfrm>
            <a:off x="822960" y="3154680"/>
            <a:ext cx="2240280" cy="365760"/>
          </a:xfrm>
          <a:prstGeom prst="rect">
            <a:avLst/>
          </a:prstGeom>
          <a:noFill/>
          <a:ln/>
        </p:spPr>
        <p:txBody>
          <a:bodyPr wrap="square" lIns="0" tIns="0" rIns="0" bIns="0" rtlCol="0" anchor="ctr"/>
          <a:lstStyle/>
          <a:p>
            <a:pPr indent="0" marL="0">
              <a:buNone/>
            </a:pPr>
            <a:r>
              <a:rPr lang="en-US" sz="1600" b="1" dirty="0">
                <a:solidFill>
                  <a:srgbClr val="E8EEF1"/>
                </a:solidFill>
                <a:latin typeface="Verdana" pitchFamily="34" charset="0"/>
                <a:ea typeface="Verdana" pitchFamily="34" charset="-122"/>
                <a:cs typeface="Verdana" pitchFamily="34" charset="-120"/>
              </a:rPr>
              <a:t>Traffic volume</a:t>
            </a:r>
            <a:endParaRPr lang="en-US" sz="1600" dirty="0"/>
          </a:p>
        </p:txBody>
      </p:sp>
      <p:sp>
        <p:nvSpPr>
          <p:cNvPr id="8" name="Text 6"/>
          <p:cNvSpPr/>
          <p:nvPr/>
        </p:nvSpPr>
        <p:spPr>
          <a:xfrm>
            <a:off x="822960" y="3566160"/>
            <a:ext cx="2240280" cy="54864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how many vehicles</a:t>
            </a:r>
            <a:endParaRPr lang="en-US" sz="1300" dirty="0"/>
          </a:p>
        </p:txBody>
      </p:sp>
      <p:sp>
        <p:nvSpPr>
          <p:cNvPr id="9" name="Text 7"/>
          <p:cNvSpPr/>
          <p:nvPr/>
        </p:nvSpPr>
        <p:spPr>
          <a:xfrm>
            <a:off x="822960" y="4251960"/>
            <a:ext cx="2240280" cy="320040"/>
          </a:xfrm>
          <a:prstGeom prst="rect">
            <a:avLst/>
          </a:prstGeom>
          <a:noFill/>
          <a:ln/>
        </p:spPr>
        <p:txBody>
          <a:bodyPr wrap="square" lIns="0" tIns="0" rIns="0" bIns="0" rtlCol="0" anchor="ctr"/>
          <a:lstStyle/>
          <a:p>
            <a:pPr indent="0" marL="0">
              <a:buNone/>
            </a:pPr>
            <a:r>
              <a:rPr lang="en-US" sz="1100" dirty="0">
                <a:solidFill>
                  <a:srgbClr val="4FB3D9"/>
                </a:solidFill>
                <a:latin typeface="Verdana" pitchFamily="34" charset="0"/>
                <a:ea typeface="Verdana" pitchFamily="34" charset="-122"/>
                <a:cs typeface="Verdana" pitchFamily="34" charset="-120"/>
              </a:rPr>
              <a:t>a number</a:t>
            </a:r>
            <a:endParaRPr lang="en-US" sz="1100" dirty="0"/>
          </a:p>
        </p:txBody>
      </p:sp>
      <p:sp>
        <p:nvSpPr>
          <p:cNvPr id="10" name="Shape 8"/>
          <p:cNvSpPr/>
          <p:nvPr/>
        </p:nvSpPr>
        <p:spPr>
          <a:xfrm>
            <a:off x="3401568" y="2971800"/>
            <a:ext cx="2606040" cy="1828800"/>
          </a:xfrm>
          <a:prstGeom prst="roundRect">
            <a:avLst>
              <a:gd name="adj" fmla="val 4000"/>
            </a:avLst>
          </a:prstGeom>
          <a:solidFill>
            <a:srgbClr val="1E3542"/>
          </a:solidFill>
          <a:ln w="12700">
            <a:solidFill>
              <a:srgbClr val="24404F"/>
            </a:solidFill>
            <a:prstDash val="solid"/>
          </a:ln>
        </p:spPr>
      </p:sp>
      <p:sp>
        <p:nvSpPr>
          <p:cNvPr id="11" name="Text 9"/>
          <p:cNvSpPr/>
          <p:nvPr/>
        </p:nvSpPr>
        <p:spPr>
          <a:xfrm>
            <a:off x="3584448" y="3154680"/>
            <a:ext cx="2240280" cy="365760"/>
          </a:xfrm>
          <a:prstGeom prst="rect">
            <a:avLst/>
          </a:prstGeom>
          <a:noFill/>
          <a:ln/>
        </p:spPr>
        <p:txBody>
          <a:bodyPr wrap="square" lIns="0" tIns="0" rIns="0" bIns="0" rtlCol="0" anchor="ctr"/>
          <a:lstStyle/>
          <a:p>
            <a:pPr indent="0" marL="0">
              <a:buNone/>
            </a:pPr>
            <a:r>
              <a:rPr lang="en-US" sz="1600" b="1" dirty="0">
                <a:solidFill>
                  <a:srgbClr val="E8EEF1"/>
                </a:solidFill>
                <a:latin typeface="Verdana" pitchFamily="34" charset="0"/>
                <a:ea typeface="Verdana" pitchFamily="34" charset="-122"/>
                <a:cs typeface="Verdana" pitchFamily="34" charset="-120"/>
              </a:rPr>
              <a:t>Average speed</a:t>
            </a:r>
            <a:endParaRPr lang="en-US" sz="1600" dirty="0"/>
          </a:p>
        </p:txBody>
      </p:sp>
      <p:sp>
        <p:nvSpPr>
          <p:cNvPr id="12" name="Text 10"/>
          <p:cNvSpPr/>
          <p:nvPr/>
        </p:nvSpPr>
        <p:spPr>
          <a:xfrm>
            <a:off x="3584448" y="3566160"/>
            <a:ext cx="2240280" cy="54864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how fast they move</a:t>
            </a:r>
            <a:endParaRPr lang="en-US" sz="1300" dirty="0"/>
          </a:p>
        </p:txBody>
      </p:sp>
      <p:sp>
        <p:nvSpPr>
          <p:cNvPr id="13" name="Text 11"/>
          <p:cNvSpPr/>
          <p:nvPr/>
        </p:nvSpPr>
        <p:spPr>
          <a:xfrm>
            <a:off x="3584448" y="4251960"/>
            <a:ext cx="2240280" cy="320040"/>
          </a:xfrm>
          <a:prstGeom prst="rect">
            <a:avLst/>
          </a:prstGeom>
          <a:noFill/>
          <a:ln/>
        </p:spPr>
        <p:txBody>
          <a:bodyPr wrap="square" lIns="0" tIns="0" rIns="0" bIns="0" rtlCol="0" anchor="ctr"/>
          <a:lstStyle/>
          <a:p>
            <a:pPr indent="0" marL="0">
              <a:buNone/>
            </a:pPr>
            <a:r>
              <a:rPr lang="en-US" sz="1100" dirty="0">
                <a:solidFill>
                  <a:srgbClr val="4FB3D9"/>
                </a:solidFill>
                <a:latin typeface="Verdana" pitchFamily="34" charset="0"/>
                <a:ea typeface="Verdana" pitchFamily="34" charset="-122"/>
                <a:cs typeface="Verdana" pitchFamily="34" charset="-120"/>
              </a:rPr>
              <a:t>a number</a:t>
            </a:r>
            <a:endParaRPr lang="en-US" sz="1100" dirty="0"/>
          </a:p>
        </p:txBody>
      </p:sp>
      <p:sp>
        <p:nvSpPr>
          <p:cNvPr id="14" name="Shape 12"/>
          <p:cNvSpPr/>
          <p:nvPr/>
        </p:nvSpPr>
        <p:spPr>
          <a:xfrm>
            <a:off x="6163056" y="2971800"/>
            <a:ext cx="2606040" cy="1828800"/>
          </a:xfrm>
          <a:prstGeom prst="roundRect">
            <a:avLst>
              <a:gd name="adj" fmla="val 4000"/>
            </a:avLst>
          </a:prstGeom>
          <a:solidFill>
            <a:srgbClr val="1E3542"/>
          </a:solidFill>
          <a:ln w="12700">
            <a:solidFill>
              <a:srgbClr val="24404F"/>
            </a:solidFill>
            <a:prstDash val="solid"/>
          </a:ln>
        </p:spPr>
      </p:sp>
      <p:sp>
        <p:nvSpPr>
          <p:cNvPr id="15" name="Text 13"/>
          <p:cNvSpPr/>
          <p:nvPr/>
        </p:nvSpPr>
        <p:spPr>
          <a:xfrm>
            <a:off x="6345936" y="3154680"/>
            <a:ext cx="2240280" cy="365760"/>
          </a:xfrm>
          <a:prstGeom prst="rect">
            <a:avLst/>
          </a:prstGeom>
          <a:noFill/>
          <a:ln/>
        </p:spPr>
        <p:txBody>
          <a:bodyPr wrap="square" lIns="0" tIns="0" rIns="0" bIns="0" rtlCol="0" anchor="ctr"/>
          <a:lstStyle/>
          <a:p>
            <a:pPr indent="0" marL="0">
              <a:buNone/>
            </a:pPr>
            <a:r>
              <a:rPr lang="en-US" sz="1600" b="1" dirty="0">
                <a:solidFill>
                  <a:srgbClr val="E8EEF1"/>
                </a:solidFill>
                <a:latin typeface="Verdana" pitchFamily="34" charset="0"/>
                <a:ea typeface="Verdana" pitchFamily="34" charset="-122"/>
                <a:cs typeface="Verdana" pitchFamily="34" charset="-120"/>
              </a:rPr>
              <a:t>Congestion level</a:t>
            </a:r>
            <a:endParaRPr lang="en-US" sz="1600" dirty="0"/>
          </a:p>
        </p:txBody>
      </p:sp>
      <p:sp>
        <p:nvSpPr>
          <p:cNvPr id="16" name="Text 14"/>
          <p:cNvSpPr/>
          <p:nvPr/>
        </p:nvSpPr>
        <p:spPr>
          <a:xfrm>
            <a:off x="6345936" y="3566160"/>
            <a:ext cx="2240280" cy="54864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Free-flow to Severe</a:t>
            </a:r>
            <a:endParaRPr lang="en-US" sz="1300" dirty="0"/>
          </a:p>
        </p:txBody>
      </p:sp>
      <p:sp>
        <p:nvSpPr>
          <p:cNvPr id="17" name="Text 15"/>
          <p:cNvSpPr/>
          <p:nvPr/>
        </p:nvSpPr>
        <p:spPr>
          <a:xfrm>
            <a:off x="6345936" y="4251960"/>
            <a:ext cx="2240280" cy="320040"/>
          </a:xfrm>
          <a:prstGeom prst="rect">
            <a:avLst/>
          </a:prstGeom>
          <a:noFill/>
          <a:ln/>
        </p:spPr>
        <p:txBody>
          <a:bodyPr wrap="square" lIns="0" tIns="0" rIns="0" bIns="0" rtlCol="0" anchor="ctr"/>
          <a:lstStyle/>
          <a:p>
            <a:pPr indent="0" marL="0">
              <a:buNone/>
            </a:pPr>
            <a:r>
              <a:rPr lang="en-US" sz="1100" dirty="0">
                <a:solidFill>
                  <a:srgbClr val="4FB3D9"/>
                </a:solidFill>
                <a:latin typeface="Verdana" pitchFamily="34" charset="0"/>
                <a:ea typeface="Verdana" pitchFamily="34" charset="-122"/>
                <a:cs typeface="Verdana" pitchFamily="34" charset="-120"/>
              </a:rPr>
              <a:t>a category</a:t>
            </a:r>
            <a:endParaRPr lang="en-US" sz="1100" dirty="0"/>
          </a:p>
        </p:txBody>
      </p:sp>
      <p:sp>
        <p:nvSpPr>
          <p:cNvPr id="18" name="Shape 16"/>
          <p:cNvSpPr/>
          <p:nvPr/>
        </p:nvSpPr>
        <p:spPr>
          <a:xfrm>
            <a:off x="8924544" y="2971800"/>
            <a:ext cx="2606040" cy="1828800"/>
          </a:xfrm>
          <a:prstGeom prst="roundRect">
            <a:avLst>
              <a:gd name="adj" fmla="val 4000"/>
            </a:avLst>
          </a:prstGeom>
          <a:solidFill>
            <a:srgbClr val="1E3542"/>
          </a:solidFill>
          <a:ln w="12700">
            <a:solidFill>
              <a:srgbClr val="24404F"/>
            </a:solidFill>
            <a:prstDash val="solid"/>
          </a:ln>
        </p:spPr>
      </p:sp>
      <p:sp>
        <p:nvSpPr>
          <p:cNvPr id="19" name="Text 17"/>
          <p:cNvSpPr/>
          <p:nvPr/>
        </p:nvSpPr>
        <p:spPr>
          <a:xfrm>
            <a:off x="9107424" y="3154680"/>
            <a:ext cx="2240280" cy="365760"/>
          </a:xfrm>
          <a:prstGeom prst="rect">
            <a:avLst/>
          </a:prstGeom>
          <a:noFill/>
          <a:ln/>
        </p:spPr>
        <p:txBody>
          <a:bodyPr wrap="square" lIns="0" tIns="0" rIns="0" bIns="0" rtlCol="0" anchor="ctr"/>
          <a:lstStyle/>
          <a:p>
            <a:pPr indent="0" marL="0">
              <a:buNone/>
            </a:pPr>
            <a:r>
              <a:rPr lang="en-US" sz="1600" b="1" dirty="0">
                <a:solidFill>
                  <a:srgbClr val="E8EEF1"/>
                </a:solidFill>
                <a:latin typeface="Verdana" pitchFamily="34" charset="0"/>
                <a:ea typeface="Verdana" pitchFamily="34" charset="-122"/>
                <a:cs typeface="Verdana" pitchFamily="34" charset="-120"/>
              </a:rPr>
              <a:t>Accident risk</a:t>
            </a:r>
            <a:endParaRPr lang="en-US" sz="1600" dirty="0"/>
          </a:p>
        </p:txBody>
      </p:sp>
      <p:sp>
        <p:nvSpPr>
          <p:cNvPr id="20" name="Text 18"/>
          <p:cNvSpPr/>
          <p:nvPr/>
        </p:nvSpPr>
        <p:spPr>
          <a:xfrm>
            <a:off x="9107424" y="3566160"/>
            <a:ext cx="2240280" cy="54864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chance of an incident</a:t>
            </a:r>
            <a:endParaRPr lang="en-US" sz="1300" dirty="0"/>
          </a:p>
        </p:txBody>
      </p:sp>
      <p:sp>
        <p:nvSpPr>
          <p:cNvPr id="21" name="Text 19"/>
          <p:cNvSpPr/>
          <p:nvPr/>
        </p:nvSpPr>
        <p:spPr>
          <a:xfrm>
            <a:off x="9107424" y="4251960"/>
            <a:ext cx="2240280" cy="320040"/>
          </a:xfrm>
          <a:prstGeom prst="rect">
            <a:avLst/>
          </a:prstGeom>
          <a:noFill/>
          <a:ln/>
        </p:spPr>
        <p:txBody>
          <a:bodyPr wrap="square" lIns="0" tIns="0" rIns="0" bIns="0" rtlCol="0" anchor="ctr"/>
          <a:lstStyle/>
          <a:p>
            <a:pPr indent="0" marL="0">
              <a:buNone/>
            </a:pPr>
            <a:r>
              <a:rPr lang="en-US" sz="1100" dirty="0">
                <a:solidFill>
                  <a:srgbClr val="4FB3D9"/>
                </a:solidFill>
                <a:latin typeface="Verdana" pitchFamily="34" charset="0"/>
                <a:ea typeface="Verdana" pitchFamily="34" charset="-122"/>
                <a:cs typeface="Verdana" pitchFamily="34" charset="-120"/>
              </a:rPr>
              <a:t>a probability</a:t>
            </a:r>
            <a:endParaRPr lang="en-US" sz="1100" dirty="0"/>
          </a:p>
        </p:txBody>
      </p:sp>
      <p:sp>
        <p:nvSpPr>
          <p:cNvPr id="22" name="Text 20"/>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Predicting a number is called regression. Predicting a category is called classification.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THE DATA</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Three files, five months, 25 segments</a:t>
            </a:r>
            <a:endParaRPr lang="en-US" sz="3400" dirty="0"/>
          </a:p>
        </p:txBody>
      </p:sp>
      <p:sp>
        <p:nvSpPr>
          <p:cNvPr id="4" name="Shape 2"/>
          <p:cNvSpPr/>
          <p:nvPr/>
        </p:nvSpPr>
        <p:spPr>
          <a:xfrm>
            <a:off x="640080" y="1783080"/>
            <a:ext cx="3520440" cy="1371600"/>
          </a:xfrm>
          <a:prstGeom prst="roundRect">
            <a:avLst>
              <a:gd name="adj" fmla="val 5333"/>
            </a:avLst>
          </a:prstGeom>
          <a:solidFill>
            <a:srgbClr val="1E3542"/>
          </a:solidFill>
          <a:ln w="12700">
            <a:solidFill>
              <a:srgbClr val="24404F"/>
            </a:solidFill>
            <a:prstDash val="solid"/>
          </a:ln>
        </p:spPr>
      </p:sp>
      <p:sp>
        <p:nvSpPr>
          <p:cNvPr id="5" name="Text 3"/>
          <p:cNvSpPr/>
          <p:nvPr/>
        </p:nvSpPr>
        <p:spPr>
          <a:xfrm>
            <a:off x="822960" y="1947672"/>
            <a:ext cx="3154680" cy="603504"/>
          </a:xfrm>
          <a:prstGeom prst="rect">
            <a:avLst/>
          </a:prstGeom>
          <a:noFill/>
          <a:ln/>
        </p:spPr>
        <p:txBody>
          <a:bodyPr wrap="square" lIns="0" tIns="0" rIns="0" bIns="0" rtlCol="0" anchor="ctr"/>
          <a:lstStyle/>
          <a:p>
            <a:pPr indent="0" marL="0">
              <a:buNone/>
            </a:pPr>
            <a:r>
              <a:rPr lang="en-US" sz="3200" b="1" dirty="0">
                <a:solidFill>
                  <a:srgbClr val="E8EEF1"/>
                </a:solidFill>
                <a:latin typeface="Verdana" pitchFamily="34" charset="0"/>
                <a:ea typeface="Verdana" pitchFamily="34" charset="-122"/>
                <a:cs typeface="Verdana" pitchFamily="34" charset="-120"/>
              </a:rPr>
              <a:t>178,468</a:t>
            </a:r>
            <a:endParaRPr lang="en-US" sz="3200" dirty="0"/>
          </a:p>
        </p:txBody>
      </p:sp>
      <p:sp>
        <p:nvSpPr>
          <p:cNvPr id="6" name="Text 4"/>
          <p:cNvSpPr/>
          <p:nvPr/>
        </p:nvSpPr>
        <p:spPr>
          <a:xfrm>
            <a:off x="822960" y="2569464"/>
            <a:ext cx="31546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sensor readings received</a:t>
            </a:r>
            <a:endParaRPr lang="en-US" sz="1100" dirty="0"/>
          </a:p>
        </p:txBody>
      </p:sp>
      <p:sp>
        <p:nvSpPr>
          <p:cNvPr id="7" name="Shape 5"/>
          <p:cNvSpPr/>
          <p:nvPr/>
        </p:nvSpPr>
        <p:spPr>
          <a:xfrm>
            <a:off x="4315968" y="1783080"/>
            <a:ext cx="3520440" cy="1371600"/>
          </a:xfrm>
          <a:prstGeom prst="roundRect">
            <a:avLst>
              <a:gd name="adj" fmla="val 5333"/>
            </a:avLst>
          </a:prstGeom>
          <a:solidFill>
            <a:srgbClr val="1E3542"/>
          </a:solidFill>
          <a:ln w="12700">
            <a:solidFill>
              <a:srgbClr val="24404F"/>
            </a:solidFill>
            <a:prstDash val="solid"/>
          </a:ln>
        </p:spPr>
      </p:sp>
      <p:sp>
        <p:nvSpPr>
          <p:cNvPr id="8" name="Text 6"/>
          <p:cNvSpPr/>
          <p:nvPr/>
        </p:nvSpPr>
        <p:spPr>
          <a:xfrm>
            <a:off x="4498848" y="1947672"/>
            <a:ext cx="3154680" cy="603504"/>
          </a:xfrm>
          <a:prstGeom prst="rect">
            <a:avLst/>
          </a:prstGeom>
          <a:noFill/>
          <a:ln/>
        </p:spPr>
        <p:txBody>
          <a:bodyPr wrap="square" lIns="0" tIns="0" rIns="0" bIns="0" rtlCol="0" anchor="ctr"/>
          <a:lstStyle/>
          <a:p>
            <a:pPr indent="0" marL="0">
              <a:buNone/>
            </a:pPr>
            <a:r>
              <a:rPr lang="en-US" sz="3200" b="1" dirty="0">
                <a:solidFill>
                  <a:srgbClr val="E8EEF1"/>
                </a:solidFill>
                <a:latin typeface="Verdana" pitchFamily="34" charset="0"/>
                <a:ea typeface="Verdana" pitchFamily="34" charset="-122"/>
                <a:cs typeface="Verdana" pitchFamily="34" charset="-120"/>
              </a:rPr>
              <a:t>25</a:t>
            </a:r>
            <a:endParaRPr lang="en-US" sz="3200" dirty="0"/>
          </a:p>
        </p:txBody>
      </p:sp>
      <p:sp>
        <p:nvSpPr>
          <p:cNvPr id="9" name="Text 7"/>
          <p:cNvSpPr/>
          <p:nvPr/>
        </p:nvSpPr>
        <p:spPr>
          <a:xfrm>
            <a:off x="4498848" y="2569464"/>
            <a:ext cx="31546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road segments monitored</a:t>
            </a:r>
            <a:endParaRPr lang="en-US" sz="1100" dirty="0"/>
          </a:p>
        </p:txBody>
      </p:sp>
      <p:sp>
        <p:nvSpPr>
          <p:cNvPr id="10" name="Shape 8"/>
          <p:cNvSpPr/>
          <p:nvPr/>
        </p:nvSpPr>
        <p:spPr>
          <a:xfrm>
            <a:off x="8001000" y="1783080"/>
            <a:ext cx="3520440" cy="1371600"/>
          </a:xfrm>
          <a:prstGeom prst="roundRect">
            <a:avLst>
              <a:gd name="adj" fmla="val 5333"/>
            </a:avLst>
          </a:prstGeom>
          <a:solidFill>
            <a:srgbClr val="1E3542"/>
          </a:solidFill>
          <a:ln w="12700">
            <a:solidFill>
              <a:srgbClr val="24404F"/>
            </a:solidFill>
            <a:prstDash val="solid"/>
          </a:ln>
        </p:spPr>
      </p:sp>
      <p:sp>
        <p:nvSpPr>
          <p:cNvPr id="11" name="Text 9"/>
          <p:cNvSpPr/>
          <p:nvPr/>
        </p:nvSpPr>
        <p:spPr>
          <a:xfrm>
            <a:off x="8183880" y="1947672"/>
            <a:ext cx="3154680" cy="603504"/>
          </a:xfrm>
          <a:prstGeom prst="rect">
            <a:avLst/>
          </a:prstGeom>
          <a:noFill/>
          <a:ln/>
        </p:spPr>
        <p:txBody>
          <a:bodyPr wrap="square" lIns="0" tIns="0" rIns="0" bIns="0" rtlCol="0" anchor="ctr"/>
          <a:lstStyle/>
          <a:p>
            <a:pPr indent="0" marL="0">
              <a:buNone/>
            </a:pPr>
            <a:r>
              <a:rPr lang="en-US" sz="3200" b="1" dirty="0">
                <a:solidFill>
                  <a:srgbClr val="E8EEF1"/>
                </a:solidFill>
                <a:latin typeface="Verdana" pitchFamily="34" charset="0"/>
                <a:ea typeface="Verdana" pitchFamily="34" charset="-122"/>
                <a:cs typeface="Verdana" pitchFamily="34" charset="-120"/>
              </a:rPr>
              <a:t>30 min</a:t>
            </a:r>
            <a:endParaRPr lang="en-US" sz="3200" dirty="0"/>
          </a:p>
        </p:txBody>
      </p:sp>
      <p:sp>
        <p:nvSpPr>
          <p:cNvPr id="12" name="Text 10"/>
          <p:cNvSpPr/>
          <p:nvPr/>
        </p:nvSpPr>
        <p:spPr>
          <a:xfrm>
            <a:off x="8183880" y="2569464"/>
            <a:ext cx="31546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between each reading</a:t>
            </a:r>
            <a:endParaRPr lang="en-US" sz="1100" dirty="0"/>
          </a:p>
        </p:txBody>
      </p:sp>
      <p:sp>
        <p:nvSpPr>
          <p:cNvPr id="13" name="Shape 11"/>
          <p:cNvSpPr/>
          <p:nvPr/>
        </p:nvSpPr>
        <p:spPr>
          <a:xfrm>
            <a:off x="640080" y="3429000"/>
            <a:ext cx="10881360" cy="777240"/>
          </a:xfrm>
          <a:prstGeom prst="roundRect">
            <a:avLst>
              <a:gd name="adj" fmla="val 9412"/>
            </a:avLst>
          </a:prstGeom>
          <a:solidFill>
            <a:srgbClr val="1E3542"/>
          </a:solidFill>
          <a:ln w="12700">
            <a:solidFill>
              <a:srgbClr val="24404F"/>
            </a:solidFill>
            <a:prstDash val="solid"/>
          </a:ln>
        </p:spPr>
      </p:sp>
      <p:sp>
        <p:nvSpPr>
          <p:cNvPr id="14" name="Text 12"/>
          <p:cNvSpPr/>
          <p:nvPr/>
        </p:nvSpPr>
        <p:spPr>
          <a:xfrm>
            <a:off x="868680" y="3520440"/>
            <a:ext cx="36576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traffic_sensor_log.csv</a:t>
            </a:r>
            <a:endParaRPr lang="en-US" sz="1400" dirty="0"/>
          </a:p>
        </p:txBody>
      </p:sp>
      <p:sp>
        <p:nvSpPr>
          <p:cNvPr id="15" name="Text 13"/>
          <p:cNvSpPr/>
          <p:nvPr/>
        </p:nvSpPr>
        <p:spPr>
          <a:xfrm>
            <a:off x="4663440" y="3538728"/>
            <a:ext cx="6583680" cy="548640"/>
          </a:xfrm>
          <a:prstGeom prst="rect">
            <a:avLst/>
          </a:prstGeom>
          <a:noFill/>
          <a:ln/>
        </p:spPr>
        <p:txBody>
          <a:bodyPr wrap="square" lIns="0" tIns="0" rIns="0" bIns="0" rtlCol="0" anchor="ctr"/>
          <a:lstStyle/>
          <a:p>
            <a:pPr indent="0" marL="0">
              <a:buNone/>
            </a:pPr>
            <a:r>
              <a:rPr lang="en-US" sz="1200" dirty="0">
                <a:solidFill>
                  <a:srgbClr val="7A96A5"/>
                </a:solidFill>
                <a:latin typeface="Verdana" pitchFamily="34" charset="0"/>
                <a:ea typeface="Verdana" pitchFamily="34" charset="-122"/>
                <a:cs typeface="Verdana" pitchFamily="34" charset="-120"/>
              </a:rPr>
              <a:t>Vehicle counts, speed, occupancy, travel time, incidents — one row per segment per half hour</a:t>
            </a:r>
            <a:endParaRPr lang="en-US" sz="1200" dirty="0"/>
          </a:p>
        </p:txBody>
      </p:sp>
      <p:sp>
        <p:nvSpPr>
          <p:cNvPr id="16" name="Shape 14"/>
          <p:cNvSpPr/>
          <p:nvPr/>
        </p:nvSpPr>
        <p:spPr>
          <a:xfrm>
            <a:off x="640080" y="4343400"/>
            <a:ext cx="10881360" cy="777240"/>
          </a:xfrm>
          <a:prstGeom prst="roundRect">
            <a:avLst>
              <a:gd name="adj" fmla="val 9412"/>
            </a:avLst>
          </a:prstGeom>
          <a:solidFill>
            <a:srgbClr val="1E3542"/>
          </a:solidFill>
          <a:ln w="12700">
            <a:solidFill>
              <a:srgbClr val="24404F"/>
            </a:solidFill>
            <a:prstDash val="solid"/>
          </a:ln>
        </p:spPr>
      </p:sp>
      <p:sp>
        <p:nvSpPr>
          <p:cNvPr id="17" name="Text 15"/>
          <p:cNvSpPr/>
          <p:nvPr/>
        </p:nvSpPr>
        <p:spPr>
          <a:xfrm>
            <a:off x="868680" y="4434840"/>
            <a:ext cx="36576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weather_observations.csv</a:t>
            </a:r>
            <a:endParaRPr lang="en-US" sz="1400" dirty="0"/>
          </a:p>
        </p:txBody>
      </p:sp>
      <p:sp>
        <p:nvSpPr>
          <p:cNvPr id="18" name="Text 16"/>
          <p:cNvSpPr/>
          <p:nvPr/>
        </p:nvSpPr>
        <p:spPr>
          <a:xfrm>
            <a:off x="4663440" y="4453128"/>
            <a:ext cx="6583680" cy="548640"/>
          </a:xfrm>
          <a:prstGeom prst="rect">
            <a:avLst/>
          </a:prstGeom>
          <a:noFill/>
          <a:ln/>
        </p:spPr>
        <p:txBody>
          <a:bodyPr wrap="square" lIns="0" tIns="0" rIns="0" bIns="0" rtlCol="0" anchor="ctr"/>
          <a:lstStyle/>
          <a:p>
            <a:pPr indent="0" marL="0">
              <a:buNone/>
            </a:pPr>
            <a:r>
              <a:rPr lang="en-US" sz="1200" dirty="0">
                <a:solidFill>
                  <a:srgbClr val="7A96A5"/>
                </a:solidFill>
                <a:latin typeface="Verdana" pitchFamily="34" charset="0"/>
                <a:ea typeface="Verdana" pitchFamily="34" charset="-122"/>
                <a:cs typeface="Verdana" pitchFamily="34" charset="-120"/>
              </a:rPr>
              <a:t>Temperature, rainfall and visibility from three stations, recorded hourly</a:t>
            </a:r>
            <a:endParaRPr lang="en-US" sz="1200" dirty="0"/>
          </a:p>
        </p:txBody>
      </p:sp>
      <p:sp>
        <p:nvSpPr>
          <p:cNvPr id="19" name="Shape 17"/>
          <p:cNvSpPr/>
          <p:nvPr/>
        </p:nvSpPr>
        <p:spPr>
          <a:xfrm>
            <a:off x="640080" y="5257800"/>
            <a:ext cx="10881360" cy="777240"/>
          </a:xfrm>
          <a:prstGeom prst="roundRect">
            <a:avLst>
              <a:gd name="adj" fmla="val 9412"/>
            </a:avLst>
          </a:prstGeom>
          <a:solidFill>
            <a:srgbClr val="1E3542"/>
          </a:solidFill>
          <a:ln w="12700">
            <a:solidFill>
              <a:srgbClr val="24404F"/>
            </a:solidFill>
            <a:prstDash val="solid"/>
          </a:ln>
        </p:spPr>
      </p:sp>
      <p:sp>
        <p:nvSpPr>
          <p:cNvPr id="20" name="Text 18"/>
          <p:cNvSpPr/>
          <p:nvPr/>
        </p:nvSpPr>
        <p:spPr>
          <a:xfrm>
            <a:off x="868680" y="5349240"/>
            <a:ext cx="36576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calendar_events.csv</a:t>
            </a:r>
            <a:endParaRPr lang="en-US" sz="1400" dirty="0"/>
          </a:p>
        </p:txBody>
      </p:sp>
      <p:sp>
        <p:nvSpPr>
          <p:cNvPr id="21" name="Text 19"/>
          <p:cNvSpPr/>
          <p:nvPr/>
        </p:nvSpPr>
        <p:spPr>
          <a:xfrm>
            <a:off x="4663440" y="5367528"/>
            <a:ext cx="6583680" cy="548640"/>
          </a:xfrm>
          <a:prstGeom prst="rect">
            <a:avLst/>
          </a:prstGeom>
          <a:noFill/>
          <a:ln/>
        </p:spPr>
        <p:txBody>
          <a:bodyPr wrap="square" lIns="0" tIns="0" rIns="0" bIns="0" rtlCol="0" anchor="ctr"/>
          <a:lstStyle/>
          <a:p>
            <a:pPr indent="0" marL="0">
              <a:buNone/>
            </a:pPr>
            <a:r>
              <a:rPr lang="en-US" sz="1200" dirty="0">
                <a:solidFill>
                  <a:srgbClr val="7A96A5"/>
                </a:solidFill>
                <a:latin typeface="Verdana" pitchFamily="34" charset="0"/>
                <a:ea typeface="Verdana" pitchFamily="34" charset="-122"/>
                <a:cs typeface="Verdana" pitchFamily="34" charset="-120"/>
              </a:rPr>
              <a:t>One row per day: 6 public holidays, 6 event days, 11 roadwork days</a:t>
            </a:r>
            <a:endParaRPr lang="en-US" sz="1200" dirty="0"/>
          </a:p>
        </p:txBody>
      </p:sp>
      <p:sp>
        <p:nvSpPr>
          <p:cNvPr id="22" name="Text 20"/>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1 January – 31 May 2025. Synthetic data, deliberately made messy to imitate a real sensor feed.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WHAT WAS BROKEN</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Real sensor data is never clean</a:t>
            </a:r>
            <a:endParaRPr lang="en-US" sz="3400" dirty="0"/>
          </a:p>
        </p:txBody>
      </p:sp>
      <p:sp>
        <p:nvSpPr>
          <p:cNvPr id="4" name="Shape 2"/>
          <p:cNvSpPr/>
          <p:nvPr/>
        </p:nvSpPr>
        <p:spPr>
          <a:xfrm>
            <a:off x="640080" y="1783080"/>
            <a:ext cx="3529584" cy="1828800"/>
          </a:xfrm>
          <a:prstGeom prst="roundRect">
            <a:avLst>
              <a:gd name="adj" fmla="val 4000"/>
            </a:avLst>
          </a:prstGeom>
          <a:solidFill>
            <a:srgbClr val="1E3542"/>
          </a:solidFill>
          <a:ln w="12700">
            <a:solidFill>
              <a:srgbClr val="24404F"/>
            </a:solidFill>
            <a:prstDash val="solid"/>
          </a:ln>
        </p:spPr>
      </p:sp>
      <p:sp>
        <p:nvSpPr>
          <p:cNvPr id="5" name="Text 3"/>
          <p:cNvSpPr/>
          <p:nvPr/>
        </p:nvSpPr>
        <p:spPr>
          <a:xfrm>
            <a:off x="841248" y="1965960"/>
            <a:ext cx="3108960" cy="548640"/>
          </a:xfrm>
          <a:prstGeom prst="rect">
            <a:avLst/>
          </a:prstGeom>
          <a:noFill/>
          <a:ln/>
        </p:spPr>
        <p:txBody>
          <a:bodyPr wrap="square" lIns="0" tIns="0" rIns="0" bIns="0" rtlCol="0" anchor="ctr"/>
          <a:lstStyle/>
          <a:p>
            <a:pPr indent="0" marL="0">
              <a:buNone/>
            </a:pPr>
            <a:r>
              <a:rPr lang="en-US" sz="2800" b="1" dirty="0">
                <a:solidFill>
                  <a:srgbClr val="C8434F"/>
                </a:solidFill>
                <a:latin typeface="Verdana" pitchFamily="34" charset="0"/>
                <a:ea typeface="Verdana" pitchFamily="34" charset="-122"/>
                <a:cs typeface="Verdana" pitchFamily="34" charset="-120"/>
              </a:rPr>
              <a:t>712</a:t>
            </a:r>
            <a:endParaRPr lang="en-US" sz="2800" dirty="0"/>
          </a:p>
        </p:txBody>
      </p:sp>
      <p:sp>
        <p:nvSpPr>
          <p:cNvPr id="6" name="Text 4"/>
          <p:cNvSpPr/>
          <p:nvPr/>
        </p:nvSpPr>
        <p:spPr>
          <a:xfrm>
            <a:off x="841248" y="2560320"/>
            <a:ext cx="3108960" cy="365760"/>
          </a:xfrm>
          <a:prstGeom prst="rect">
            <a:avLst/>
          </a:prstGeom>
          <a:noFill/>
          <a:ln/>
        </p:spPr>
        <p:txBody>
          <a:bodyPr wrap="square" lIns="0" tIns="0" rIns="0" bIns="0" rtlCol="0" anchor="ctr"/>
          <a:lstStyle/>
          <a:p>
            <a:pPr indent="0" marL="0">
              <a:buNone/>
            </a:pPr>
            <a:r>
              <a:rPr lang="en-US" sz="1400" b="1" dirty="0">
                <a:solidFill>
                  <a:srgbClr val="E8EEF1"/>
                </a:solidFill>
                <a:latin typeface="Verdana" pitchFamily="34" charset="0"/>
                <a:ea typeface="Verdana" pitchFamily="34" charset="-122"/>
                <a:cs typeface="Verdana" pitchFamily="34" charset="-120"/>
              </a:rPr>
              <a:t>impossible readings</a:t>
            </a:r>
            <a:endParaRPr lang="en-US" sz="1400" dirty="0"/>
          </a:p>
        </p:txBody>
      </p:sp>
      <p:sp>
        <p:nvSpPr>
          <p:cNvPr id="7" name="Text 5"/>
          <p:cNvSpPr/>
          <p:nvPr/>
        </p:nvSpPr>
        <p:spPr>
          <a:xfrm>
            <a:off x="841248" y="2953512"/>
            <a:ext cx="3108960" cy="50292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negative counts, 300 km/h speeds</a:t>
            </a:r>
            <a:endParaRPr lang="en-US" sz="1100" dirty="0"/>
          </a:p>
        </p:txBody>
      </p:sp>
      <p:sp>
        <p:nvSpPr>
          <p:cNvPr id="8" name="Shape 6"/>
          <p:cNvSpPr/>
          <p:nvPr/>
        </p:nvSpPr>
        <p:spPr>
          <a:xfrm>
            <a:off x="4325112" y="1783080"/>
            <a:ext cx="3529584" cy="1828800"/>
          </a:xfrm>
          <a:prstGeom prst="roundRect">
            <a:avLst>
              <a:gd name="adj" fmla="val 4000"/>
            </a:avLst>
          </a:prstGeom>
          <a:solidFill>
            <a:srgbClr val="1E3542"/>
          </a:solidFill>
          <a:ln w="12700">
            <a:solidFill>
              <a:srgbClr val="24404F"/>
            </a:solidFill>
            <a:prstDash val="solid"/>
          </a:ln>
        </p:spPr>
      </p:sp>
      <p:sp>
        <p:nvSpPr>
          <p:cNvPr id="9" name="Text 7"/>
          <p:cNvSpPr/>
          <p:nvPr/>
        </p:nvSpPr>
        <p:spPr>
          <a:xfrm>
            <a:off x="4526280" y="1965960"/>
            <a:ext cx="3108960" cy="548640"/>
          </a:xfrm>
          <a:prstGeom prst="rect">
            <a:avLst/>
          </a:prstGeom>
          <a:noFill/>
          <a:ln/>
        </p:spPr>
        <p:txBody>
          <a:bodyPr wrap="square" lIns="0" tIns="0" rIns="0" bIns="0" rtlCol="0" anchor="ctr"/>
          <a:lstStyle/>
          <a:p>
            <a:pPr indent="0" marL="0">
              <a:buNone/>
            </a:pPr>
            <a:r>
              <a:rPr lang="en-US" sz="2800" b="1" dirty="0">
                <a:solidFill>
                  <a:srgbClr val="E07B39"/>
                </a:solidFill>
                <a:latin typeface="Verdana" pitchFamily="34" charset="0"/>
                <a:ea typeface="Verdana" pitchFamily="34" charset="-122"/>
                <a:cs typeface="Verdana" pitchFamily="34" charset="-120"/>
              </a:rPr>
              <a:t>1,759</a:t>
            </a:r>
            <a:endParaRPr lang="en-US" sz="2800" dirty="0"/>
          </a:p>
        </p:txBody>
      </p:sp>
      <p:sp>
        <p:nvSpPr>
          <p:cNvPr id="10" name="Text 8"/>
          <p:cNvSpPr/>
          <p:nvPr/>
        </p:nvSpPr>
        <p:spPr>
          <a:xfrm>
            <a:off x="4526280" y="2560320"/>
            <a:ext cx="3108960" cy="365760"/>
          </a:xfrm>
          <a:prstGeom prst="rect">
            <a:avLst/>
          </a:prstGeom>
          <a:noFill/>
          <a:ln/>
        </p:spPr>
        <p:txBody>
          <a:bodyPr wrap="square" lIns="0" tIns="0" rIns="0" bIns="0" rtlCol="0" anchor="ctr"/>
          <a:lstStyle/>
          <a:p>
            <a:pPr indent="0" marL="0">
              <a:buNone/>
            </a:pPr>
            <a:r>
              <a:rPr lang="en-US" sz="1400" b="1" dirty="0">
                <a:solidFill>
                  <a:srgbClr val="E8EEF1"/>
                </a:solidFill>
                <a:latin typeface="Verdana" pitchFamily="34" charset="0"/>
                <a:ea typeface="Verdana" pitchFamily="34" charset="-122"/>
                <a:cs typeface="Verdana" pitchFamily="34" charset="-120"/>
              </a:rPr>
              <a:t>duplicate rows</a:t>
            </a:r>
            <a:endParaRPr lang="en-US" sz="1400" dirty="0"/>
          </a:p>
        </p:txBody>
      </p:sp>
      <p:sp>
        <p:nvSpPr>
          <p:cNvPr id="11" name="Text 9"/>
          <p:cNvSpPr/>
          <p:nvPr/>
        </p:nvSpPr>
        <p:spPr>
          <a:xfrm>
            <a:off x="4526280" y="2953512"/>
            <a:ext cx="3108960" cy="50292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sensors retransmitting</a:t>
            </a:r>
            <a:endParaRPr lang="en-US" sz="1100" dirty="0"/>
          </a:p>
        </p:txBody>
      </p:sp>
      <p:sp>
        <p:nvSpPr>
          <p:cNvPr id="12" name="Shape 10"/>
          <p:cNvSpPr/>
          <p:nvPr/>
        </p:nvSpPr>
        <p:spPr>
          <a:xfrm>
            <a:off x="8010144" y="1783080"/>
            <a:ext cx="3529584" cy="1828800"/>
          </a:xfrm>
          <a:prstGeom prst="roundRect">
            <a:avLst>
              <a:gd name="adj" fmla="val 4000"/>
            </a:avLst>
          </a:prstGeom>
          <a:solidFill>
            <a:srgbClr val="1E3542"/>
          </a:solidFill>
          <a:ln w="12700">
            <a:solidFill>
              <a:srgbClr val="24404F"/>
            </a:solidFill>
            <a:prstDash val="solid"/>
          </a:ln>
        </p:spPr>
      </p:sp>
      <p:sp>
        <p:nvSpPr>
          <p:cNvPr id="13" name="Text 11"/>
          <p:cNvSpPr/>
          <p:nvPr/>
        </p:nvSpPr>
        <p:spPr>
          <a:xfrm>
            <a:off x="8211312" y="1965960"/>
            <a:ext cx="3108960" cy="548640"/>
          </a:xfrm>
          <a:prstGeom prst="rect">
            <a:avLst/>
          </a:prstGeom>
          <a:noFill/>
          <a:ln/>
        </p:spPr>
        <p:txBody>
          <a:bodyPr wrap="square" lIns="0" tIns="0" rIns="0" bIns="0" rtlCol="0" anchor="ctr"/>
          <a:lstStyle/>
          <a:p>
            <a:pPr indent="0" marL="0">
              <a:buNone/>
            </a:pPr>
            <a:r>
              <a:rPr lang="en-US" sz="2800" b="1" dirty="0">
                <a:solidFill>
                  <a:srgbClr val="C8434F"/>
                </a:solidFill>
                <a:latin typeface="Verdana" pitchFamily="34" charset="0"/>
                <a:ea typeface="Verdana" pitchFamily="34" charset="-122"/>
                <a:cs typeface="Verdana" pitchFamily="34" charset="-120"/>
              </a:rPr>
              <a:t>5,203</a:t>
            </a:r>
            <a:endParaRPr lang="en-US" sz="2800" dirty="0"/>
          </a:p>
        </p:txBody>
      </p:sp>
      <p:sp>
        <p:nvSpPr>
          <p:cNvPr id="14" name="Text 12"/>
          <p:cNvSpPr/>
          <p:nvPr/>
        </p:nvSpPr>
        <p:spPr>
          <a:xfrm>
            <a:off x="8211312" y="2560320"/>
            <a:ext cx="3108960" cy="365760"/>
          </a:xfrm>
          <a:prstGeom prst="rect">
            <a:avLst/>
          </a:prstGeom>
          <a:noFill/>
          <a:ln/>
        </p:spPr>
        <p:txBody>
          <a:bodyPr wrap="square" lIns="0" tIns="0" rIns="0" bIns="0" rtlCol="0" anchor="ctr"/>
          <a:lstStyle/>
          <a:p>
            <a:pPr indent="0" marL="0">
              <a:buNone/>
            </a:pPr>
            <a:r>
              <a:rPr lang="en-US" sz="1400" b="1" dirty="0">
                <a:solidFill>
                  <a:srgbClr val="E8EEF1"/>
                </a:solidFill>
                <a:latin typeface="Verdana" pitchFamily="34" charset="0"/>
                <a:ea typeface="Verdana" pitchFamily="34" charset="-122"/>
                <a:cs typeface="Verdana" pitchFamily="34" charset="-120"/>
              </a:rPr>
              <a:t>missing time slots</a:t>
            </a:r>
            <a:endParaRPr lang="en-US" sz="1400" dirty="0"/>
          </a:p>
        </p:txBody>
      </p:sp>
      <p:sp>
        <p:nvSpPr>
          <p:cNvPr id="15" name="Text 13"/>
          <p:cNvSpPr/>
          <p:nvPr/>
        </p:nvSpPr>
        <p:spPr>
          <a:xfrm>
            <a:off x="8211312" y="2953512"/>
            <a:ext cx="3108960" cy="50292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absent from the file entirely</a:t>
            </a:r>
            <a:endParaRPr lang="en-US" sz="1100" dirty="0"/>
          </a:p>
        </p:txBody>
      </p:sp>
      <p:sp>
        <p:nvSpPr>
          <p:cNvPr id="16" name="Shape 14"/>
          <p:cNvSpPr/>
          <p:nvPr/>
        </p:nvSpPr>
        <p:spPr>
          <a:xfrm>
            <a:off x="640080" y="3840480"/>
            <a:ext cx="3529584" cy="1828800"/>
          </a:xfrm>
          <a:prstGeom prst="roundRect">
            <a:avLst>
              <a:gd name="adj" fmla="val 4000"/>
            </a:avLst>
          </a:prstGeom>
          <a:solidFill>
            <a:srgbClr val="1E3542"/>
          </a:solidFill>
          <a:ln w="12700">
            <a:solidFill>
              <a:srgbClr val="24404F"/>
            </a:solidFill>
            <a:prstDash val="solid"/>
          </a:ln>
        </p:spPr>
      </p:sp>
      <p:sp>
        <p:nvSpPr>
          <p:cNvPr id="17" name="Text 15"/>
          <p:cNvSpPr/>
          <p:nvPr/>
        </p:nvSpPr>
        <p:spPr>
          <a:xfrm>
            <a:off x="841248" y="4023360"/>
            <a:ext cx="3108960" cy="548640"/>
          </a:xfrm>
          <a:prstGeom prst="rect">
            <a:avLst/>
          </a:prstGeom>
          <a:noFill/>
          <a:ln/>
        </p:spPr>
        <p:txBody>
          <a:bodyPr wrap="square" lIns="0" tIns="0" rIns="0" bIns="0" rtlCol="0" anchor="ctr"/>
          <a:lstStyle/>
          <a:p>
            <a:pPr indent="0" marL="0">
              <a:buNone/>
            </a:pPr>
            <a:r>
              <a:rPr lang="en-US" sz="2800" b="1" dirty="0">
                <a:solidFill>
                  <a:srgbClr val="E0B341"/>
                </a:solidFill>
                <a:latin typeface="Verdana" pitchFamily="34" charset="0"/>
                <a:ea typeface="Verdana" pitchFamily="34" charset="-122"/>
                <a:cs typeface="Verdana" pitchFamily="34" charset="-120"/>
              </a:rPr>
              <a:t>13 -&gt; 4</a:t>
            </a:r>
            <a:endParaRPr lang="en-US" sz="2800" dirty="0"/>
          </a:p>
        </p:txBody>
      </p:sp>
      <p:sp>
        <p:nvSpPr>
          <p:cNvPr id="18" name="Text 16"/>
          <p:cNvSpPr/>
          <p:nvPr/>
        </p:nvSpPr>
        <p:spPr>
          <a:xfrm>
            <a:off x="841248" y="4617720"/>
            <a:ext cx="3108960" cy="365760"/>
          </a:xfrm>
          <a:prstGeom prst="rect">
            <a:avLst/>
          </a:prstGeom>
          <a:noFill/>
          <a:ln/>
        </p:spPr>
        <p:txBody>
          <a:bodyPr wrap="square" lIns="0" tIns="0" rIns="0" bIns="0" rtlCol="0" anchor="ctr"/>
          <a:lstStyle/>
          <a:p>
            <a:pPr indent="0" marL="0">
              <a:buNone/>
            </a:pPr>
            <a:r>
              <a:rPr lang="en-US" sz="1400" b="1" dirty="0">
                <a:solidFill>
                  <a:srgbClr val="E8EEF1"/>
                </a:solidFill>
                <a:latin typeface="Verdana" pitchFamily="34" charset="0"/>
                <a:ea typeface="Verdana" pitchFamily="34" charset="-122"/>
                <a:cs typeface="Verdana" pitchFamily="34" charset="-120"/>
              </a:rPr>
              <a:t>weather spellings</a:t>
            </a:r>
            <a:endParaRPr lang="en-US" sz="1400" dirty="0"/>
          </a:p>
        </p:txBody>
      </p:sp>
      <p:sp>
        <p:nvSpPr>
          <p:cNvPr id="19" name="Text 17"/>
          <p:cNvSpPr/>
          <p:nvPr/>
        </p:nvSpPr>
        <p:spPr>
          <a:xfrm>
            <a:off x="841248" y="5010912"/>
            <a:ext cx="3108960" cy="50292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'RAIN', 'rainy', 'Rain'</a:t>
            </a:r>
            <a:endParaRPr lang="en-US" sz="1100" dirty="0"/>
          </a:p>
        </p:txBody>
      </p:sp>
      <p:sp>
        <p:nvSpPr>
          <p:cNvPr id="20" name="Shape 18"/>
          <p:cNvSpPr/>
          <p:nvPr/>
        </p:nvSpPr>
        <p:spPr>
          <a:xfrm>
            <a:off x="4325112" y="3840480"/>
            <a:ext cx="3529584" cy="1828800"/>
          </a:xfrm>
          <a:prstGeom prst="roundRect">
            <a:avLst>
              <a:gd name="adj" fmla="val 4000"/>
            </a:avLst>
          </a:prstGeom>
          <a:solidFill>
            <a:srgbClr val="1E3542"/>
          </a:solidFill>
          <a:ln w="12700">
            <a:solidFill>
              <a:srgbClr val="24404F"/>
            </a:solidFill>
            <a:prstDash val="solid"/>
          </a:ln>
        </p:spPr>
      </p:sp>
      <p:sp>
        <p:nvSpPr>
          <p:cNvPr id="21" name="Text 19"/>
          <p:cNvSpPr/>
          <p:nvPr/>
        </p:nvSpPr>
        <p:spPr>
          <a:xfrm>
            <a:off x="4526280" y="4023360"/>
            <a:ext cx="3108960" cy="548640"/>
          </a:xfrm>
          <a:prstGeom prst="rect">
            <a:avLst/>
          </a:prstGeom>
          <a:noFill/>
          <a:ln/>
        </p:spPr>
        <p:txBody>
          <a:bodyPr wrap="square" lIns="0" tIns="0" rIns="0" bIns="0" rtlCol="0" anchor="ctr"/>
          <a:lstStyle/>
          <a:p>
            <a:pPr indent="0" marL="0">
              <a:buNone/>
            </a:pPr>
            <a:r>
              <a:rPr lang="en-US" sz="2800" b="1" dirty="0">
                <a:solidFill>
                  <a:srgbClr val="E0B341"/>
                </a:solidFill>
                <a:latin typeface="Verdana" pitchFamily="34" charset="0"/>
                <a:ea typeface="Verdana" pitchFamily="34" charset="-122"/>
                <a:cs typeface="Verdana" pitchFamily="34" charset="-120"/>
              </a:rPr>
              <a:t>4,400</a:t>
            </a:r>
            <a:endParaRPr lang="en-US" sz="2800" dirty="0"/>
          </a:p>
        </p:txBody>
      </p:sp>
      <p:sp>
        <p:nvSpPr>
          <p:cNvPr id="22" name="Text 20"/>
          <p:cNvSpPr/>
          <p:nvPr/>
        </p:nvSpPr>
        <p:spPr>
          <a:xfrm>
            <a:off x="4526280" y="4617720"/>
            <a:ext cx="3108960" cy="365760"/>
          </a:xfrm>
          <a:prstGeom prst="rect">
            <a:avLst/>
          </a:prstGeom>
          <a:noFill/>
          <a:ln/>
        </p:spPr>
        <p:txBody>
          <a:bodyPr wrap="square" lIns="0" tIns="0" rIns="0" bIns="0" rtlCol="0" anchor="ctr"/>
          <a:lstStyle/>
          <a:p>
            <a:pPr indent="0" marL="0">
              <a:buNone/>
            </a:pPr>
            <a:r>
              <a:rPr lang="en-US" sz="1400" b="1" dirty="0">
                <a:solidFill>
                  <a:srgbClr val="E8EEF1"/>
                </a:solidFill>
                <a:latin typeface="Verdana" pitchFamily="34" charset="0"/>
                <a:ea typeface="Verdana" pitchFamily="34" charset="-122"/>
                <a:cs typeface="Verdana" pitchFamily="34" charset="-120"/>
              </a:rPr>
              <a:t>blank values per column</a:t>
            </a:r>
            <a:endParaRPr lang="en-US" sz="1400" dirty="0"/>
          </a:p>
        </p:txBody>
      </p:sp>
      <p:sp>
        <p:nvSpPr>
          <p:cNvPr id="23" name="Text 21"/>
          <p:cNvSpPr/>
          <p:nvPr/>
        </p:nvSpPr>
        <p:spPr>
          <a:xfrm>
            <a:off x="4526280" y="5010912"/>
            <a:ext cx="3108960" cy="50292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sensor dropouts</a:t>
            </a:r>
            <a:endParaRPr lang="en-US" sz="1100" dirty="0"/>
          </a:p>
        </p:txBody>
      </p:sp>
      <p:sp>
        <p:nvSpPr>
          <p:cNvPr id="24" name="Shape 22"/>
          <p:cNvSpPr/>
          <p:nvPr/>
        </p:nvSpPr>
        <p:spPr>
          <a:xfrm>
            <a:off x="8010144" y="3840480"/>
            <a:ext cx="3529584" cy="1828800"/>
          </a:xfrm>
          <a:prstGeom prst="roundRect">
            <a:avLst>
              <a:gd name="adj" fmla="val 4000"/>
            </a:avLst>
          </a:prstGeom>
          <a:solidFill>
            <a:srgbClr val="1E3542"/>
          </a:solidFill>
          <a:ln w="12700">
            <a:solidFill>
              <a:srgbClr val="24404F"/>
            </a:solidFill>
            <a:prstDash val="solid"/>
          </a:ln>
        </p:spPr>
      </p:sp>
      <p:sp>
        <p:nvSpPr>
          <p:cNvPr id="25" name="Text 23"/>
          <p:cNvSpPr/>
          <p:nvPr/>
        </p:nvSpPr>
        <p:spPr>
          <a:xfrm>
            <a:off x="8211312" y="4023360"/>
            <a:ext cx="3108960" cy="548640"/>
          </a:xfrm>
          <a:prstGeom prst="rect">
            <a:avLst/>
          </a:prstGeom>
          <a:noFill/>
          <a:ln/>
        </p:spPr>
        <p:txBody>
          <a:bodyPr wrap="square" lIns="0" tIns="0" rIns="0" bIns="0" rtlCol="0" anchor="ctr"/>
          <a:lstStyle/>
          <a:p>
            <a:pPr indent="0" marL="0">
              <a:buNone/>
            </a:pPr>
            <a:r>
              <a:rPr lang="en-US" sz="2800" b="1" dirty="0">
                <a:solidFill>
                  <a:srgbClr val="E07B39"/>
                </a:solidFill>
                <a:latin typeface="Verdana" pitchFamily="34" charset="0"/>
                <a:ea typeface="Verdana" pitchFamily="34" charset="-122"/>
                <a:cs typeface="Verdana" pitchFamily="34" charset="-120"/>
              </a:rPr>
              <a:t>2</a:t>
            </a:r>
            <a:endParaRPr lang="en-US" sz="2800" dirty="0"/>
          </a:p>
        </p:txBody>
      </p:sp>
      <p:sp>
        <p:nvSpPr>
          <p:cNvPr id="26" name="Text 24"/>
          <p:cNvSpPr/>
          <p:nvPr/>
        </p:nvSpPr>
        <p:spPr>
          <a:xfrm>
            <a:off x="8211312" y="4617720"/>
            <a:ext cx="3108960" cy="365760"/>
          </a:xfrm>
          <a:prstGeom prst="rect">
            <a:avLst/>
          </a:prstGeom>
          <a:noFill/>
          <a:ln/>
        </p:spPr>
        <p:txBody>
          <a:bodyPr wrap="square" lIns="0" tIns="0" rIns="0" bIns="0" rtlCol="0" anchor="ctr"/>
          <a:lstStyle/>
          <a:p>
            <a:pPr indent="0" marL="0">
              <a:buNone/>
            </a:pPr>
            <a:r>
              <a:rPr lang="en-US" sz="1400" b="1" dirty="0">
                <a:solidFill>
                  <a:srgbClr val="E8EEF1"/>
                </a:solidFill>
                <a:latin typeface="Verdana" pitchFamily="34" charset="0"/>
                <a:ea typeface="Verdana" pitchFamily="34" charset="-122"/>
                <a:cs typeface="Verdana" pitchFamily="34" charset="-120"/>
              </a:rPr>
              <a:t>date formats</a:t>
            </a:r>
            <a:endParaRPr lang="en-US" sz="1400" dirty="0"/>
          </a:p>
        </p:txBody>
      </p:sp>
      <p:sp>
        <p:nvSpPr>
          <p:cNvPr id="27" name="Text 25"/>
          <p:cNvSpPr/>
          <p:nvPr/>
        </p:nvSpPr>
        <p:spPr>
          <a:xfrm>
            <a:off x="8211312" y="5010912"/>
            <a:ext cx="3108960" cy="50292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05/03 vs 2025-03-05</a:t>
            </a:r>
            <a:endParaRPr lang="en-US" sz="1100" dirty="0"/>
          </a:p>
        </p:txBody>
      </p:sp>
      <p:sp>
        <p:nvSpPr>
          <p:cNvPr id="28" name="Text 26"/>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Every fix is logged. Rejected rows are quarantined with a reason, never silently deleted.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THE DANGEROUS ONE</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5,203 slots weren't blank. They were absent.</a:t>
            </a:r>
            <a:endParaRPr lang="en-US" sz="3400" dirty="0"/>
          </a:p>
        </p:txBody>
      </p:sp>
      <p:sp>
        <p:nvSpPr>
          <p:cNvPr id="4" name="Shape 2"/>
          <p:cNvSpPr/>
          <p:nvPr/>
        </p:nvSpPr>
        <p:spPr>
          <a:xfrm>
            <a:off x="640080" y="1691640"/>
            <a:ext cx="5257800" cy="3017520"/>
          </a:xfrm>
          <a:prstGeom prst="roundRect">
            <a:avLst>
              <a:gd name="adj" fmla="val 2424"/>
            </a:avLst>
          </a:prstGeom>
          <a:solidFill>
            <a:srgbClr val="22161C"/>
          </a:solidFill>
          <a:ln w="12700">
            <a:solidFill>
              <a:srgbClr val="24404F"/>
            </a:solidFill>
            <a:prstDash val="solid"/>
          </a:ln>
        </p:spPr>
      </p:sp>
      <p:sp>
        <p:nvSpPr>
          <p:cNvPr id="5" name="Text 3"/>
          <p:cNvSpPr/>
          <p:nvPr/>
        </p:nvSpPr>
        <p:spPr>
          <a:xfrm>
            <a:off x="868680" y="1828800"/>
            <a:ext cx="4754880" cy="320040"/>
          </a:xfrm>
          <a:prstGeom prst="rect">
            <a:avLst/>
          </a:prstGeom>
          <a:noFill/>
          <a:ln/>
        </p:spPr>
        <p:txBody>
          <a:bodyPr wrap="square" lIns="0" tIns="0" rIns="0" bIns="0" rtlCol="0" anchor="ctr"/>
          <a:lstStyle/>
          <a:p>
            <a:pPr indent="0" marL="0">
              <a:buNone/>
            </a:pPr>
            <a:r>
              <a:rPr lang="en-US" sz="1300" b="1" dirty="0">
                <a:solidFill>
                  <a:srgbClr val="C8434F"/>
                </a:solidFill>
                <a:latin typeface="Verdana" pitchFamily="34" charset="0"/>
                <a:ea typeface="Verdana" pitchFamily="34" charset="-122"/>
                <a:cs typeface="Verdana" pitchFamily="34" charset="-120"/>
              </a:rPr>
              <a:t>What the code sees</a:t>
            </a:r>
            <a:endParaRPr lang="en-US" sz="1300" dirty="0"/>
          </a:p>
        </p:txBody>
      </p:sp>
      <p:sp>
        <p:nvSpPr>
          <p:cNvPr id="6" name="Text 4"/>
          <p:cNvSpPr/>
          <p:nvPr/>
        </p:nvSpPr>
        <p:spPr>
          <a:xfrm>
            <a:off x="868680" y="2240280"/>
            <a:ext cx="4754880" cy="2286000"/>
          </a:xfrm>
          <a:prstGeom prst="rect">
            <a:avLst/>
          </a:prstGeom>
          <a:noFill/>
          <a:ln/>
        </p:spPr>
        <p:txBody>
          <a:bodyPr wrap="square" lIns="0" tIns="0" rIns="0" bIns="0" rtlCol="0" anchor="ctr"/>
          <a:lstStyle/>
          <a:p>
            <a:pPr indent="0" marL="0">
              <a:lnSpc>
                <a:spcPts val="2600"/>
              </a:lnSpc>
              <a:buNone/>
            </a:pPr>
            <a:r>
              <a:rPr lang="en-US" sz="1500" dirty="0">
                <a:solidFill>
                  <a:srgbClr val="E8EEF1"/>
                </a:solidFill>
                <a:latin typeface="Courier New" pitchFamily="34" charset="0"/>
                <a:ea typeface="Courier New" pitchFamily="34" charset="-122"/>
                <a:cs typeface="Courier New" pitchFamily="34" charset="-120"/>
              </a:rPr>
              <a:t>07:00   →   184 vehicles</a:t>
            </a:r>
            <a:endParaRPr lang="en-US" sz="1500" dirty="0"/>
          </a:p>
          <a:p>
            <a:pPr indent="0" marL="0">
              <a:lnSpc>
                <a:spcPts val="2600"/>
              </a:lnSpc>
              <a:buNone/>
            </a:pPr>
            <a:r>
              <a:rPr lang="en-US" sz="1500" dirty="0">
                <a:solidFill>
                  <a:srgbClr val="E8EEF1"/>
                </a:solidFill>
                <a:latin typeface="Courier New" pitchFamily="34" charset="0"/>
                <a:ea typeface="Courier New" pitchFamily="34" charset="-122"/>
                <a:cs typeface="Courier New" pitchFamily="34" charset="-120"/>
              </a:rPr>
              <a:t>09:30   →   470 vehicles</a:t>
            </a:r>
            <a:endParaRPr lang="en-US" sz="1500" dirty="0"/>
          </a:p>
          <a:p>
            <a:pPr indent="0" marL="0">
              <a:lnSpc>
                <a:spcPts val="2600"/>
              </a:lnSpc>
              <a:buNone/>
            </a:pPr>
            <a:endParaRPr lang="en-US" sz="1500" dirty="0"/>
          </a:p>
          <a:p>
            <a:pPr indent="0" marL="0">
              <a:lnSpc>
                <a:spcPts val="2600"/>
              </a:lnSpc>
              <a:buNone/>
            </a:pPr>
            <a:r>
              <a:rPr lang="en-US" sz="1500" b="1" dirty="0">
                <a:solidFill>
                  <a:srgbClr val="C8434F"/>
                </a:solidFill>
                <a:latin typeface="Courier New" pitchFamily="34" charset="0"/>
                <a:ea typeface="Courier New" pitchFamily="34" charset="-122"/>
                <a:cs typeface="Courier New" pitchFamily="34" charset="-120"/>
              </a:rPr>
              <a:t>"previous reading" = 07:00</a:t>
            </a:r>
            <a:endParaRPr lang="en-US" sz="1500" dirty="0"/>
          </a:p>
          <a:p>
            <a:pPr indent="0" marL="0">
              <a:lnSpc>
                <a:spcPts val="2600"/>
              </a:lnSpc>
              <a:buNone/>
            </a:pPr>
            <a:r>
              <a:rPr lang="en-US" sz="1500" dirty="0">
                <a:solidFill>
                  <a:srgbClr val="E8EEF1"/>
                </a:solidFill>
                <a:latin typeface="Courier New" pitchFamily="34" charset="0"/>
                <a:ea typeface="Courier New" pitchFamily="34" charset="-122"/>
                <a:cs typeface="Courier New" pitchFamily="34" charset="-120"/>
              </a:rPr>
              <a:t>The program believes 07:00 was</a:t>
            </a:r>
            <a:endParaRPr lang="en-US" sz="1500" dirty="0"/>
          </a:p>
          <a:p>
            <a:pPr indent="0" marL="0">
              <a:lnSpc>
                <a:spcPts val="2600"/>
              </a:lnSpc>
              <a:buNone/>
            </a:pPr>
            <a:r>
              <a:rPr lang="en-US" sz="1500" dirty="0">
                <a:solidFill>
                  <a:srgbClr val="E8EEF1"/>
                </a:solidFill>
                <a:latin typeface="Courier New" pitchFamily="34" charset="0"/>
                <a:ea typeface="Courier New" pitchFamily="34" charset="-122"/>
                <a:cs typeface="Courier New" pitchFamily="34" charset="-120"/>
              </a:rPr>
              <a:t>30 minutes before 09:30.</a:t>
            </a:r>
            <a:endParaRPr lang="en-US" sz="1500" dirty="0"/>
          </a:p>
        </p:txBody>
      </p:sp>
      <p:sp>
        <p:nvSpPr>
          <p:cNvPr id="7" name="Shape 5"/>
          <p:cNvSpPr/>
          <p:nvPr/>
        </p:nvSpPr>
        <p:spPr>
          <a:xfrm>
            <a:off x="6263640" y="1691640"/>
            <a:ext cx="5257800" cy="3017520"/>
          </a:xfrm>
          <a:prstGeom prst="roundRect">
            <a:avLst>
              <a:gd name="adj" fmla="val 2424"/>
            </a:avLst>
          </a:prstGeom>
          <a:solidFill>
            <a:srgbClr val="14261F"/>
          </a:solidFill>
          <a:ln w="12700">
            <a:solidFill>
              <a:srgbClr val="24404F"/>
            </a:solidFill>
            <a:prstDash val="solid"/>
          </a:ln>
        </p:spPr>
      </p:sp>
      <p:sp>
        <p:nvSpPr>
          <p:cNvPr id="8" name="Text 6"/>
          <p:cNvSpPr/>
          <p:nvPr/>
        </p:nvSpPr>
        <p:spPr>
          <a:xfrm>
            <a:off x="6492240" y="1828800"/>
            <a:ext cx="4754880" cy="320040"/>
          </a:xfrm>
          <a:prstGeom prst="rect">
            <a:avLst/>
          </a:prstGeom>
          <a:noFill/>
          <a:ln/>
        </p:spPr>
        <p:txBody>
          <a:bodyPr wrap="square" lIns="0" tIns="0" rIns="0" bIns="0" rtlCol="0" anchor="ctr"/>
          <a:lstStyle/>
          <a:p>
            <a:pPr indent="0" marL="0">
              <a:buNone/>
            </a:pPr>
            <a:r>
              <a:rPr lang="en-US" sz="1300" b="1" dirty="0">
                <a:solidFill>
                  <a:srgbClr val="2E9E8F"/>
                </a:solidFill>
                <a:latin typeface="Verdana" pitchFamily="34" charset="0"/>
                <a:ea typeface="Verdana" pitchFamily="34" charset="-122"/>
                <a:cs typeface="Verdana" pitchFamily="34" charset="-120"/>
              </a:rPr>
              <a:t>After rebuilding the timetable</a:t>
            </a:r>
            <a:endParaRPr lang="en-US" sz="1300" dirty="0"/>
          </a:p>
        </p:txBody>
      </p:sp>
      <p:sp>
        <p:nvSpPr>
          <p:cNvPr id="9" name="Text 7"/>
          <p:cNvSpPr/>
          <p:nvPr/>
        </p:nvSpPr>
        <p:spPr>
          <a:xfrm>
            <a:off x="6492240" y="2240280"/>
            <a:ext cx="4754880" cy="2286000"/>
          </a:xfrm>
          <a:prstGeom prst="rect">
            <a:avLst/>
          </a:prstGeom>
          <a:noFill/>
          <a:ln/>
        </p:spPr>
        <p:txBody>
          <a:bodyPr wrap="square" lIns="0" tIns="0" rIns="0" bIns="0" rtlCol="0" anchor="ctr"/>
          <a:lstStyle/>
          <a:p>
            <a:pPr indent="0" marL="0">
              <a:lnSpc>
                <a:spcPts val="2600"/>
              </a:lnSpc>
              <a:buNone/>
            </a:pPr>
            <a:r>
              <a:rPr lang="en-US" sz="1500" dirty="0">
                <a:solidFill>
                  <a:srgbClr val="E8EEF1"/>
                </a:solidFill>
                <a:latin typeface="Courier New" pitchFamily="34" charset="0"/>
                <a:ea typeface="Courier New" pitchFamily="34" charset="-122"/>
                <a:cs typeface="Courier New" pitchFamily="34" charset="-120"/>
              </a:rPr>
              <a:t>07:00   →   184 vehicles</a:t>
            </a:r>
            <a:endParaRPr lang="en-US" sz="1500" dirty="0"/>
          </a:p>
          <a:p>
            <a:pPr indent="0" marL="0">
              <a:lnSpc>
                <a:spcPts val="2600"/>
              </a:lnSpc>
              <a:buNone/>
            </a:pPr>
            <a:r>
              <a:rPr lang="en-US" sz="1500" dirty="0">
                <a:solidFill>
                  <a:srgbClr val="7A96A5"/>
                </a:solidFill>
                <a:latin typeface="Courier New" pitchFamily="34" charset="0"/>
                <a:ea typeface="Courier New" pitchFamily="34" charset="-122"/>
                <a:cs typeface="Courier New" pitchFamily="34" charset="-120"/>
              </a:rPr>
              <a:t>07:30   →   (missing)</a:t>
            </a:r>
            <a:endParaRPr lang="en-US" sz="1500" dirty="0"/>
          </a:p>
          <a:p>
            <a:pPr indent="0" marL="0">
              <a:lnSpc>
                <a:spcPts val="2600"/>
              </a:lnSpc>
              <a:buNone/>
            </a:pPr>
            <a:r>
              <a:rPr lang="en-US" sz="1500" dirty="0">
                <a:solidFill>
                  <a:srgbClr val="7A96A5"/>
                </a:solidFill>
                <a:latin typeface="Courier New" pitchFamily="34" charset="0"/>
                <a:ea typeface="Courier New" pitchFamily="34" charset="-122"/>
                <a:cs typeface="Courier New" pitchFamily="34" charset="-120"/>
              </a:rPr>
              <a:t>08:00   →   (missing)</a:t>
            </a:r>
            <a:endParaRPr lang="en-US" sz="1500" dirty="0"/>
          </a:p>
          <a:p>
            <a:pPr indent="0" marL="0">
              <a:lnSpc>
                <a:spcPts val="2600"/>
              </a:lnSpc>
              <a:buNone/>
            </a:pPr>
            <a:r>
              <a:rPr lang="en-US" sz="1500" dirty="0">
                <a:solidFill>
                  <a:srgbClr val="7A96A5"/>
                </a:solidFill>
                <a:latin typeface="Courier New" pitchFamily="34" charset="0"/>
                <a:ea typeface="Courier New" pitchFamily="34" charset="-122"/>
                <a:cs typeface="Courier New" pitchFamily="34" charset="-120"/>
              </a:rPr>
              <a:t>09:00   →   (missing)</a:t>
            </a:r>
            <a:endParaRPr lang="en-US" sz="1500" dirty="0"/>
          </a:p>
          <a:p>
            <a:pPr indent="0" marL="0">
              <a:lnSpc>
                <a:spcPts val="2600"/>
              </a:lnSpc>
              <a:buNone/>
            </a:pPr>
            <a:r>
              <a:rPr lang="en-US" sz="1500" dirty="0">
                <a:solidFill>
                  <a:srgbClr val="E8EEF1"/>
                </a:solidFill>
                <a:latin typeface="Courier New" pitchFamily="34" charset="0"/>
                <a:ea typeface="Courier New" pitchFamily="34" charset="-122"/>
                <a:cs typeface="Courier New" pitchFamily="34" charset="-120"/>
              </a:rPr>
              <a:t>09:30   →   470 vehicles</a:t>
            </a:r>
            <a:endParaRPr lang="en-US" sz="1500" dirty="0"/>
          </a:p>
          <a:p>
            <a:pPr indent="0" marL="0">
              <a:lnSpc>
                <a:spcPts val="2600"/>
              </a:lnSpc>
              <a:buNone/>
            </a:pPr>
            <a:endParaRPr lang="en-US" sz="1500" dirty="0"/>
          </a:p>
          <a:p>
            <a:pPr indent="0" marL="0">
              <a:lnSpc>
                <a:spcPts val="2600"/>
              </a:lnSpc>
              <a:buNone/>
            </a:pPr>
            <a:r>
              <a:rPr lang="en-US" sz="1500" b="1" dirty="0">
                <a:solidFill>
                  <a:srgbClr val="2E9E8F"/>
                </a:solidFill>
                <a:latin typeface="Courier New" pitchFamily="34" charset="0"/>
                <a:ea typeface="Courier New" pitchFamily="34" charset="-122"/>
                <a:cs typeface="Courier New" pitchFamily="34" charset="-120"/>
              </a:rPr>
              <a:t>Gaps are now visible.</a:t>
            </a:r>
            <a:endParaRPr lang="en-US" sz="1500" dirty="0"/>
          </a:p>
        </p:txBody>
      </p:sp>
      <p:sp>
        <p:nvSpPr>
          <p:cNvPr id="10" name="Text 8"/>
          <p:cNvSpPr/>
          <p:nvPr/>
        </p:nvSpPr>
        <p:spPr>
          <a:xfrm>
            <a:off x="640080" y="4937760"/>
            <a:ext cx="10881360" cy="457200"/>
          </a:xfrm>
          <a:prstGeom prst="rect">
            <a:avLst/>
          </a:prstGeom>
          <a:noFill/>
          <a:ln/>
        </p:spPr>
        <p:txBody>
          <a:bodyPr wrap="square" rtlCol="0" anchor="ctr"/>
          <a:lstStyle/>
          <a:p>
            <a:pPr indent="0" marL="0">
              <a:buNone/>
            </a:pPr>
            <a:r>
              <a:rPr lang="en-US" sz="1600" b="1" dirty="0">
                <a:solidFill>
                  <a:srgbClr val="E0B341"/>
                </a:solidFill>
                <a:latin typeface="Verdana" pitchFamily="34" charset="0"/>
                <a:ea typeface="Verdana" pitchFamily="34" charset="-122"/>
                <a:cs typeface="Verdana" pitchFamily="34" charset="-120"/>
              </a:rPr>
              <a:t>Nothing crashes. No error appears. The numbers just come out quietly wrong.</a:t>
            </a:r>
            <a:endParaRPr lang="en-US" sz="1600" dirty="0"/>
          </a:p>
        </p:txBody>
      </p:sp>
      <p:sp>
        <p:nvSpPr>
          <p:cNvPr id="11" name="Text 9"/>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Fix: rebuild the full grid — 25 segments × 48 windows × 151 days = 181,200 slots — before computing anything.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THE TRAP</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One column was secretly the answer</a:t>
            </a:r>
            <a:endParaRPr lang="en-US" sz="3400" dirty="0"/>
          </a:p>
        </p:txBody>
      </p:sp>
      <p:sp>
        <p:nvSpPr>
          <p:cNvPr id="4" name="Text 2"/>
          <p:cNvSpPr/>
          <p:nvPr/>
        </p:nvSpPr>
        <p:spPr>
          <a:xfrm>
            <a:off x="640080" y="1691640"/>
            <a:ext cx="10881360" cy="685800"/>
          </a:xfrm>
          <a:prstGeom prst="rect">
            <a:avLst/>
          </a:prstGeom>
          <a:noFill/>
          <a:ln/>
        </p:spPr>
        <p:txBody>
          <a:bodyPr wrap="square" rtlCol="0" anchor="ctr"/>
          <a:lstStyle/>
          <a:p>
            <a:pPr indent="0" marL="0">
              <a:buNone/>
            </a:pPr>
            <a:r>
              <a:rPr lang="en-US" sz="1600" dirty="0">
                <a:solidFill>
                  <a:srgbClr val="7A96A5"/>
                </a:solidFill>
                <a:latin typeface="Verdana" pitchFamily="34" charset="0"/>
                <a:ea typeface="Verdana" pitchFamily="34" charset="-122"/>
                <a:cs typeface="Verdana" pitchFamily="34" charset="-120"/>
              </a:rPr>
              <a:t>The data has a column called congestion_level. It looks like useful information. It isn't — it is just the vehicle count sorted into four buckets.</a:t>
            </a:r>
            <a:endParaRPr lang="en-US" sz="1600" dirty="0"/>
          </a:p>
        </p:txBody>
      </p:sp>
      <p:sp>
        <p:nvSpPr>
          <p:cNvPr id="5" name="Shape 3"/>
          <p:cNvSpPr/>
          <p:nvPr/>
        </p:nvSpPr>
        <p:spPr>
          <a:xfrm>
            <a:off x="640080" y="2514600"/>
            <a:ext cx="10881360" cy="1051560"/>
          </a:xfrm>
          <a:prstGeom prst="roundRect">
            <a:avLst>
              <a:gd name="adj" fmla="val 6957"/>
            </a:avLst>
          </a:prstGeom>
          <a:solidFill>
            <a:srgbClr val="1E3542"/>
          </a:solidFill>
          <a:ln w="12700">
            <a:solidFill>
              <a:srgbClr val="24404F"/>
            </a:solidFill>
            <a:prstDash val="solid"/>
          </a:ln>
        </p:spPr>
      </p:sp>
      <p:sp>
        <p:nvSpPr>
          <p:cNvPr id="6" name="Text 4"/>
          <p:cNvSpPr/>
          <p:nvPr/>
        </p:nvSpPr>
        <p:spPr>
          <a:xfrm>
            <a:off x="868680" y="2788920"/>
            <a:ext cx="10424160" cy="548640"/>
          </a:xfrm>
          <a:prstGeom prst="rect">
            <a:avLst/>
          </a:prstGeom>
          <a:noFill/>
          <a:ln/>
        </p:spPr>
        <p:txBody>
          <a:bodyPr wrap="square" lIns="0" tIns="0" rIns="0" bIns="0" rtlCol="0" anchor="ctr"/>
          <a:lstStyle/>
          <a:p>
            <a:pPr indent="0" marL="0">
              <a:buNone/>
            </a:pPr>
            <a:r>
              <a:rPr lang="en-US" sz="1500" dirty="0">
                <a:solidFill>
                  <a:srgbClr val="4FB3D9"/>
                </a:solidFill>
                <a:latin typeface="Courier New" pitchFamily="34" charset="0"/>
                <a:ea typeface="Courier New" pitchFamily="34" charset="-122"/>
                <a:cs typeface="Courier New" pitchFamily="34" charset="-120"/>
              </a:rPr>
              <a:t>vehicles ÷ capacity     &lt;50% = Free-flow     50–80% = Moderate     80–100% = Heavy     &gt;100% = Severe</a:t>
            </a:r>
            <a:endParaRPr lang="en-US" sz="1500" dirty="0"/>
          </a:p>
        </p:txBody>
      </p:sp>
      <p:sp>
        <p:nvSpPr>
          <p:cNvPr id="7" name="Shape 5"/>
          <p:cNvSpPr/>
          <p:nvPr/>
        </p:nvSpPr>
        <p:spPr>
          <a:xfrm>
            <a:off x="640080" y="3749040"/>
            <a:ext cx="3520440" cy="1371600"/>
          </a:xfrm>
          <a:prstGeom prst="roundRect">
            <a:avLst>
              <a:gd name="adj" fmla="val 5333"/>
            </a:avLst>
          </a:prstGeom>
          <a:solidFill>
            <a:srgbClr val="1E3542"/>
          </a:solidFill>
          <a:ln w="12700">
            <a:solidFill>
              <a:srgbClr val="24404F"/>
            </a:solidFill>
            <a:prstDash val="solid"/>
          </a:ln>
        </p:spPr>
      </p:sp>
      <p:sp>
        <p:nvSpPr>
          <p:cNvPr id="8" name="Text 6"/>
          <p:cNvSpPr/>
          <p:nvPr/>
        </p:nvSpPr>
        <p:spPr>
          <a:xfrm>
            <a:off x="822960" y="3913632"/>
            <a:ext cx="3154680" cy="603504"/>
          </a:xfrm>
          <a:prstGeom prst="rect">
            <a:avLst/>
          </a:prstGeom>
          <a:noFill/>
          <a:ln/>
        </p:spPr>
        <p:txBody>
          <a:bodyPr wrap="square" lIns="0" tIns="0" rIns="0" bIns="0" rtlCol="0" anchor="ctr"/>
          <a:lstStyle/>
          <a:p>
            <a:pPr indent="0" marL="0">
              <a:buNone/>
            </a:pPr>
            <a:r>
              <a:rPr lang="en-US" sz="3200" b="1" dirty="0">
                <a:solidFill>
                  <a:srgbClr val="E0B341"/>
                </a:solidFill>
                <a:latin typeface="Verdana" pitchFamily="34" charset="0"/>
                <a:ea typeface="Verdana" pitchFamily="34" charset="-122"/>
                <a:cs typeface="Verdana" pitchFamily="34" charset="-120"/>
              </a:rPr>
              <a:t>99.64%</a:t>
            </a:r>
            <a:endParaRPr lang="en-US" sz="3200" dirty="0"/>
          </a:p>
        </p:txBody>
      </p:sp>
      <p:sp>
        <p:nvSpPr>
          <p:cNvPr id="9" name="Text 7"/>
          <p:cNvSpPr/>
          <p:nvPr/>
        </p:nvSpPr>
        <p:spPr>
          <a:xfrm>
            <a:off x="822960" y="4535424"/>
            <a:ext cx="31546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the rule matched existing labels</a:t>
            </a:r>
            <a:endParaRPr lang="en-US" sz="1100" dirty="0"/>
          </a:p>
        </p:txBody>
      </p:sp>
      <p:sp>
        <p:nvSpPr>
          <p:cNvPr id="10" name="Shape 8"/>
          <p:cNvSpPr/>
          <p:nvPr/>
        </p:nvSpPr>
        <p:spPr>
          <a:xfrm>
            <a:off x="4315968" y="3749040"/>
            <a:ext cx="3520440" cy="1371600"/>
          </a:xfrm>
          <a:prstGeom prst="roundRect">
            <a:avLst>
              <a:gd name="adj" fmla="val 5333"/>
            </a:avLst>
          </a:prstGeom>
          <a:solidFill>
            <a:srgbClr val="1E3542"/>
          </a:solidFill>
          <a:ln w="12700">
            <a:solidFill>
              <a:srgbClr val="24404F"/>
            </a:solidFill>
            <a:prstDash val="solid"/>
          </a:ln>
        </p:spPr>
      </p:sp>
      <p:sp>
        <p:nvSpPr>
          <p:cNvPr id="11" name="Text 9"/>
          <p:cNvSpPr/>
          <p:nvPr/>
        </p:nvSpPr>
        <p:spPr>
          <a:xfrm>
            <a:off x="4498848" y="3913632"/>
            <a:ext cx="3154680" cy="603504"/>
          </a:xfrm>
          <a:prstGeom prst="rect">
            <a:avLst/>
          </a:prstGeom>
          <a:noFill/>
          <a:ln/>
        </p:spPr>
        <p:txBody>
          <a:bodyPr wrap="square" lIns="0" tIns="0" rIns="0" bIns="0" rtlCol="0" anchor="ctr"/>
          <a:lstStyle/>
          <a:p>
            <a:pPr indent="0" marL="0">
              <a:buNone/>
            </a:pPr>
            <a:r>
              <a:rPr lang="en-US" sz="3200" b="1" dirty="0">
                <a:solidFill>
                  <a:srgbClr val="C8434F"/>
                </a:solidFill>
                <a:latin typeface="Verdana" pitchFamily="34" charset="0"/>
                <a:ea typeface="Verdana" pitchFamily="34" charset="-122"/>
                <a:cs typeface="Verdana" pitchFamily="34" charset="-120"/>
              </a:rPr>
              <a:t>~99%</a:t>
            </a:r>
            <a:endParaRPr lang="en-US" sz="3200" dirty="0"/>
          </a:p>
        </p:txBody>
      </p:sp>
      <p:sp>
        <p:nvSpPr>
          <p:cNvPr id="12" name="Text 10"/>
          <p:cNvSpPr/>
          <p:nvPr/>
        </p:nvSpPr>
        <p:spPr>
          <a:xfrm>
            <a:off x="4498848" y="4535424"/>
            <a:ext cx="31546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fake score if you use it</a:t>
            </a:r>
            <a:endParaRPr lang="en-US" sz="1100" dirty="0"/>
          </a:p>
        </p:txBody>
      </p:sp>
      <p:sp>
        <p:nvSpPr>
          <p:cNvPr id="13" name="Shape 11"/>
          <p:cNvSpPr/>
          <p:nvPr/>
        </p:nvSpPr>
        <p:spPr>
          <a:xfrm>
            <a:off x="8001000" y="3749040"/>
            <a:ext cx="3520440" cy="1371600"/>
          </a:xfrm>
          <a:prstGeom prst="roundRect">
            <a:avLst>
              <a:gd name="adj" fmla="val 5333"/>
            </a:avLst>
          </a:prstGeom>
          <a:solidFill>
            <a:srgbClr val="1E3542"/>
          </a:solidFill>
          <a:ln w="12700">
            <a:solidFill>
              <a:srgbClr val="24404F"/>
            </a:solidFill>
            <a:prstDash val="solid"/>
          </a:ln>
        </p:spPr>
      </p:sp>
      <p:sp>
        <p:nvSpPr>
          <p:cNvPr id="14" name="Text 12"/>
          <p:cNvSpPr/>
          <p:nvPr/>
        </p:nvSpPr>
        <p:spPr>
          <a:xfrm>
            <a:off x="8183880" y="3913632"/>
            <a:ext cx="3154680" cy="603504"/>
          </a:xfrm>
          <a:prstGeom prst="rect">
            <a:avLst/>
          </a:prstGeom>
          <a:noFill/>
          <a:ln/>
        </p:spPr>
        <p:txBody>
          <a:bodyPr wrap="square" lIns="0" tIns="0" rIns="0" bIns="0" rtlCol="0" anchor="ctr"/>
          <a:lstStyle/>
          <a:p>
            <a:pPr indent="0" marL="0">
              <a:buNone/>
            </a:pPr>
            <a:r>
              <a:rPr lang="en-US" sz="3200" b="1" dirty="0">
                <a:solidFill>
                  <a:srgbClr val="2E9E8F"/>
                </a:solidFill>
                <a:latin typeface="Verdana" pitchFamily="34" charset="0"/>
                <a:ea typeface="Verdana" pitchFamily="34" charset="-122"/>
                <a:cs typeface="Verdana" pitchFamily="34" charset="-120"/>
              </a:rPr>
              <a:t>5 tests</a:t>
            </a:r>
            <a:endParaRPr lang="en-US" sz="3200" dirty="0"/>
          </a:p>
        </p:txBody>
      </p:sp>
      <p:sp>
        <p:nvSpPr>
          <p:cNvPr id="15" name="Text 13"/>
          <p:cNvSpPr/>
          <p:nvPr/>
        </p:nvSpPr>
        <p:spPr>
          <a:xfrm>
            <a:off x="8183880" y="4535424"/>
            <a:ext cx="31546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exist purely to prevent it</a:t>
            </a:r>
            <a:endParaRPr lang="en-US" sz="1100" dirty="0"/>
          </a:p>
        </p:txBody>
      </p:sp>
      <p:sp>
        <p:nvSpPr>
          <p:cNvPr id="16" name="Text 14"/>
          <p:cNvSpPr/>
          <p:nvPr/>
        </p:nvSpPr>
        <p:spPr>
          <a:xfrm>
            <a:off x="640080" y="5303520"/>
            <a:ext cx="10881360" cy="502920"/>
          </a:xfrm>
          <a:prstGeom prst="rect">
            <a:avLst/>
          </a:prstGeom>
          <a:noFill/>
          <a:ln/>
        </p:spPr>
        <p:txBody>
          <a:bodyPr wrap="square" rtlCol="0" anchor="ctr"/>
          <a:lstStyle/>
          <a:p>
            <a:pPr indent="0" marL="0">
              <a:buNone/>
            </a:pPr>
            <a:r>
              <a:rPr lang="en-US" sz="1500" b="1" dirty="0">
                <a:solidFill>
                  <a:srgbClr val="E8EEF1"/>
                </a:solidFill>
                <a:latin typeface="Verdana" pitchFamily="34" charset="0"/>
                <a:ea typeface="Verdana" pitchFamily="34" charset="-122"/>
                <a:cs typeface="Verdana" pitchFamily="34" charset="-120"/>
              </a:rPr>
              <a:t>Give the model the vehicle count and it 'predicts' congestion almost perfectly — because it was handed the answer.</a:t>
            </a:r>
            <a:endParaRPr lang="en-US" sz="1500" dirty="0"/>
          </a:p>
        </p:txBody>
      </p:sp>
      <p:sp>
        <p:nvSpPr>
          <p:cNvPr id="17" name="Text 15"/>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Also found: vehicle_count duplicates traffic_volume in 97.4% of rows. travel_time is simply distance ÷ speed.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HOW IT WORKS</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93 clues, built by hand</a:t>
            </a:r>
            <a:endParaRPr lang="en-US" sz="3400" dirty="0"/>
          </a:p>
        </p:txBody>
      </p:sp>
      <p:sp>
        <p:nvSpPr>
          <p:cNvPr id="4" name="Text 2"/>
          <p:cNvSpPr/>
          <p:nvPr/>
        </p:nvSpPr>
        <p:spPr>
          <a:xfrm>
            <a:off x="640080" y="1645920"/>
            <a:ext cx="10881360" cy="457200"/>
          </a:xfrm>
          <a:prstGeom prst="rect">
            <a:avLst/>
          </a:prstGeom>
          <a:noFill/>
          <a:ln/>
        </p:spPr>
        <p:txBody>
          <a:bodyPr wrap="square" rtlCol="0" anchor="ctr"/>
          <a:lstStyle/>
          <a:p>
            <a:pPr indent="0" marL="0">
              <a:buNone/>
            </a:pPr>
            <a:r>
              <a:rPr lang="en-US" sz="1500" dirty="0">
                <a:solidFill>
                  <a:srgbClr val="7A96A5"/>
                </a:solidFill>
                <a:latin typeface="Verdana" pitchFamily="34" charset="0"/>
                <a:ea typeface="Verdana" pitchFamily="34" charset="-122"/>
                <a:cs typeface="Verdana" pitchFamily="34" charset="-120"/>
              </a:rPr>
              <a:t>The computer knows nothing about traffic. It doesn't know rush hour exists. Every clue has to be built for it.</a:t>
            </a:r>
            <a:endParaRPr lang="en-US" sz="1500" dirty="0"/>
          </a:p>
        </p:txBody>
      </p:sp>
      <p:sp>
        <p:nvSpPr>
          <p:cNvPr id="5" name="Shape 3"/>
          <p:cNvSpPr/>
          <p:nvPr/>
        </p:nvSpPr>
        <p:spPr>
          <a:xfrm>
            <a:off x="640080" y="2286000"/>
            <a:ext cx="2606040" cy="1371600"/>
          </a:xfrm>
          <a:prstGeom prst="roundRect">
            <a:avLst>
              <a:gd name="adj" fmla="val 5333"/>
            </a:avLst>
          </a:prstGeom>
          <a:solidFill>
            <a:srgbClr val="1E3542"/>
          </a:solidFill>
          <a:ln w="12700">
            <a:solidFill>
              <a:srgbClr val="24404F"/>
            </a:solidFill>
            <a:prstDash val="solid"/>
          </a:ln>
        </p:spPr>
      </p:sp>
      <p:sp>
        <p:nvSpPr>
          <p:cNvPr id="6" name="Text 4"/>
          <p:cNvSpPr/>
          <p:nvPr/>
        </p:nvSpPr>
        <p:spPr>
          <a:xfrm>
            <a:off x="804672" y="2432304"/>
            <a:ext cx="22860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Time</a:t>
            </a:r>
            <a:endParaRPr lang="en-US" sz="1400" dirty="0"/>
          </a:p>
        </p:txBody>
      </p:sp>
      <p:sp>
        <p:nvSpPr>
          <p:cNvPr id="7" name="Text 5"/>
          <p:cNvSpPr/>
          <p:nvPr/>
        </p:nvSpPr>
        <p:spPr>
          <a:xfrm>
            <a:off x="804672" y="2834640"/>
            <a:ext cx="2286000" cy="6858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hour, weekday, is it rush hour</a:t>
            </a:r>
            <a:endParaRPr lang="en-US" sz="1100" dirty="0"/>
          </a:p>
        </p:txBody>
      </p:sp>
      <p:sp>
        <p:nvSpPr>
          <p:cNvPr id="8" name="Shape 6"/>
          <p:cNvSpPr/>
          <p:nvPr/>
        </p:nvSpPr>
        <p:spPr>
          <a:xfrm>
            <a:off x="3401568" y="2286000"/>
            <a:ext cx="2606040" cy="1371600"/>
          </a:xfrm>
          <a:prstGeom prst="roundRect">
            <a:avLst>
              <a:gd name="adj" fmla="val 5333"/>
            </a:avLst>
          </a:prstGeom>
          <a:solidFill>
            <a:srgbClr val="1E3542"/>
          </a:solidFill>
          <a:ln w="12700">
            <a:solidFill>
              <a:srgbClr val="24404F"/>
            </a:solidFill>
            <a:prstDash val="solid"/>
          </a:ln>
        </p:spPr>
      </p:sp>
      <p:sp>
        <p:nvSpPr>
          <p:cNvPr id="9" name="Text 7"/>
          <p:cNvSpPr/>
          <p:nvPr/>
        </p:nvSpPr>
        <p:spPr>
          <a:xfrm>
            <a:off x="3566160" y="2432304"/>
            <a:ext cx="22860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Recent history</a:t>
            </a:r>
            <a:endParaRPr lang="en-US" sz="1400" dirty="0"/>
          </a:p>
        </p:txBody>
      </p:sp>
      <p:sp>
        <p:nvSpPr>
          <p:cNvPr id="10" name="Text 8"/>
          <p:cNvSpPr/>
          <p:nvPr/>
        </p:nvSpPr>
        <p:spPr>
          <a:xfrm>
            <a:off x="3566160" y="2834640"/>
            <a:ext cx="2286000" cy="6858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volume 30 min, 1 hr, 2 hrs ago</a:t>
            </a:r>
            <a:endParaRPr lang="en-US" sz="1100" dirty="0"/>
          </a:p>
        </p:txBody>
      </p:sp>
      <p:sp>
        <p:nvSpPr>
          <p:cNvPr id="11" name="Shape 9"/>
          <p:cNvSpPr/>
          <p:nvPr/>
        </p:nvSpPr>
        <p:spPr>
          <a:xfrm>
            <a:off x="6163056" y="2286000"/>
            <a:ext cx="2606040" cy="1371600"/>
          </a:xfrm>
          <a:prstGeom prst="roundRect">
            <a:avLst>
              <a:gd name="adj" fmla="val 5333"/>
            </a:avLst>
          </a:prstGeom>
          <a:solidFill>
            <a:srgbClr val="1E3542"/>
          </a:solidFill>
          <a:ln w="12700">
            <a:solidFill>
              <a:srgbClr val="24404F"/>
            </a:solidFill>
            <a:prstDash val="solid"/>
          </a:ln>
        </p:spPr>
      </p:sp>
      <p:sp>
        <p:nvSpPr>
          <p:cNvPr id="12" name="Text 10"/>
          <p:cNvSpPr/>
          <p:nvPr/>
        </p:nvSpPr>
        <p:spPr>
          <a:xfrm>
            <a:off x="6327648" y="2432304"/>
            <a:ext cx="22860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Weekly memory</a:t>
            </a:r>
            <a:endParaRPr lang="en-US" sz="1400" dirty="0"/>
          </a:p>
        </p:txBody>
      </p:sp>
      <p:sp>
        <p:nvSpPr>
          <p:cNvPr id="13" name="Text 11"/>
          <p:cNvSpPr/>
          <p:nvPr/>
        </p:nvSpPr>
        <p:spPr>
          <a:xfrm>
            <a:off x="6327648" y="2834640"/>
            <a:ext cx="2286000" cy="6858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same slot yesterday and last week</a:t>
            </a:r>
            <a:endParaRPr lang="en-US" sz="1100" dirty="0"/>
          </a:p>
        </p:txBody>
      </p:sp>
      <p:sp>
        <p:nvSpPr>
          <p:cNvPr id="14" name="Shape 12"/>
          <p:cNvSpPr/>
          <p:nvPr/>
        </p:nvSpPr>
        <p:spPr>
          <a:xfrm>
            <a:off x="8924544" y="2286000"/>
            <a:ext cx="2606040" cy="1371600"/>
          </a:xfrm>
          <a:prstGeom prst="roundRect">
            <a:avLst>
              <a:gd name="adj" fmla="val 5333"/>
            </a:avLst>
          </a:prstGeom>
          <a:solidFill>
            <a:srgbClr val="1E3542"/>
          </a:solidFill>
          <a:ln w="12700">
            <a:solidFill>
              <a:srgbClr val="24404F"/>
            </a:solidFill>
            <a:prstDash val="solid"/>
          </a:ln>
        </p:spPr>
      </p:sp>
      <p:sp>
        <p:nvSpPr>
          <p:cNvPr id="15" name="Text 13"/>
          <p:cNvSpPr/>
          <p:nvPr/>
        </p:nvSpPr>
        <p:spPr>
          <a:xfrm>
            <a:off x="9089136" y="2432304"/>
            <a:ext cx="22860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Rolling averages</a:t>
            </a:r>
            <a:endParaRPr lang="en-US" sz="1400" dirty="0"/>
          </a:p>
        </p:txBody>
      </p:sp>
      <p:sp>
        <p:nvSpPr>
          <p:cNvPr id="16" name="Text 14"/>
          <p:cNvSpPr/>
          <p:nvPr/>
        </p:nvSpPr>
        <p:spPr>
          <a:xfrm>
            <a:off x="9089136" y="2834640"/>
            <a:ext cx="2286000" cy="6858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mean of the last 4 and 8 slots</a:t>
            </a:r>
            <a:endParaRPr lang="en-US" sz="1100" dirty="0"/>
          </a:p>
        </p:txBody>
      </p:sp>
      <p:sp>
        <p:nvSpPr>
          <p:cNvPr id="17" name="Shape 15"/>
          <p:cNvSpPr/>
          <p:nvPr/>
        </p:nvSpPr>
        <p:spPr>
          <a:xfrm>
            <a:off x="640080" y="3886200"/>
            <a:ext cx="2606040" cy="1371600"/>
          </a:xfrm>
          <a:prstGeom prst="roundRect">
            <a:avLst>
              <a:gd name="adj" fmla="val 5333"/>
            </a:avLst>
          </a:prstGeom>
          <a:solidFill>
            <a:srgbClr val="1E3542"/>
          </a:solidFill>
          <a:ln w="12700">
            <a:solidFill>
              <a:srgbClr val="24404F"/>
            </a:solidFill>
            <a:prstDash val="solid"/>
          </a:ln>
        </p:spPr>
      </p:sp>
      <p:sp>
        <p:nvSpPr>
          <p:cNvPr id="18" name="Text 16"/>
          <p:cNvSpPr/>
          <p:nvPr/>
        </p:nvSpPr>
        <p:spPr>
          <a:xfrm>
            <a:off x="804672" y="4032504"/>
            <a:ext cx="22860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Direction</a:t>
            </a:r>
            <a:endParaRPr lang="en-US" sz="1400" dirty="0"/>
          </a:p>
        </p:txBody>
      </p:sp>
      <p:sp>
        <p:nvSpPr>
          <p:cNvPr id="19" name="Text 17"/>
          <p:cNvSpPr/>
          <p:nvPr/>
        </p:nvSpPr>
        <p:spPr>
          <a:xfrm>
            <a:off x="804672" y="4434840"/>
            <a:ext cx="2286000" cy="6858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is volume rising or falling?</a:t>
            </a:r>
            <a:endParaRPr lang="en-US" sz="1100" dirty="0"/>
          </a:p>
        </p:txBody>
      </p:sp>
      <p:sp>
        <p:nvSpPr>
          <p:cNvPr id="20" name="Shape 18"/>
          <p:cNvSpPr/>
          <p:nvPr/>
        </p:nvSpPr>
        <p:spPr>
          <a:xfrm>
            <a:off x="3401568" y="3886200"/>
            <a:ext cx="2606040" cy="1371600"/>
          </a:xfrm>
          <a:prstGeom prst="roundRect">
            <a:avLst>
              <a:gd name="adj" fmla="val 5333"/>
            </a:avLst>
          </a:prstGeom>
          <a:solidFill>
            <a:srgbClr val="1E3542"/>
          </a:solidFill>
          <a:ln w="12700">
            <a:solidFill>
              <a:srgbClr val="24404F"/>
            </a:solidFill>
            <a:prstDash val="solid"/>
          </a:ln>
        </p:spPr>
      </p:sp>
      <p:sp>
        <p:nvSpPr>
          <p:cNvPr id="21" name="Text 19"/>
          <p:cNvSpPr/>
          <p:nvPr/>
        </p:nvSpPr>
        <p:spPr>
          <a:xfrm>
            <a:off x="3566160" y="4032504"/>
            <a:ext cx="22860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Weather</a:t>
            </a:r>
            <a:endParaRPr lang="en-US" sz="1400" dirty="0"/>
          </a:p>
        </p:txBody>
      </p:sp>
      <p:sp>
        <p:nvSpPr>
          <p:cNvPr id="22" name="Text 20"/>
          <p:cNvSpPr/>
          <p:nvPr/>
        </p:nvSpPr>
        <p:spPr>
          <a:xfrm>
            <a:off x="3566160" y="4434840"/>
            <a:ext cx="2286000" cy="6858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raining, low visibility, temperature</a:t>
            </a:r>
            <a:endParaRPr lang="en-US" sz="1100" dirty="0"/>
          </a:p>
        </p:txBody>
      </p:sp>
      <p:sp>
        <p:nvSpPr>
          <p:cNvPr id="23" name="Shape 21"/>
          <p:cNvSpPr/>
          <p:nvPr/>
        </p:nvSpPr>
        <p:spPr>
          <a:xfrm>
            <a:off x="6163056" y="3886200"/>
            <a:ext cx="2606040" cy="1371600"/>
          </a:xfrm>
          <a:prstGeom prst="roundRect">
            <a:avLst>
              <a:gd name="adj" fmla="val 5333"/>
            </a:avLst>
          </a:prstGeom>
          <a:solidFill>
            <a:srgbClr val="1E3542"/>
          </a:solidFill>
          <a:ln w="12700">
            <a:solidFill>
              <a:srgbClr val="24404F"/>
            </a:solidFill>
            <a:prstDash val="solid"/>
          </a:ln>
        </p:spPr>
      </p:sp>
      <p:sp>
        <p:nvSpPr>
          <p:cNvPr id="24" name="Text 22"/>
          <p:cNvSpPr/>
          <p:nvPr/>
        </p:nvSpPr>
        <p:spPr>
          <a:xfrm>
            <a:off x="6327648" y="4032504"/>
            <a:ext cx="22860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Calendar</a:t>
            </a:r>
            <a:endParaRPr lang="en-US" sz="1400" dirty="0"/>
          </a:p>
        </p:txBody>
      </p:sp>
      <p:sp>
        <p:nvSpPr>
          <p:cNvPr id="25" name="Text 23"/>
          <p:cNvSpPr/>
          <p:nvPr/>
        </p:nvSpPr>
        <p:spPr>
          <a:xfrm>
            <a:off x="6327648" y="4434840"/>
            <a:ext cx="2286000" cy="6858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holiday, event, roadworks</a:t>
            </a:r>
            <a:endParaRPr lang="en-US" sz="1100" dirty="0"/>
          </a:p>
        </p:txBody>
      </p:sp>
      <p:sp>
        <p:nvSpPr>
          <p:cNvPr id="26" name="Shape 24"/>
          <p:cNvSpPr/>
          <p:nvPr/>
        </p:nvSpPr>
        <p:spPr>
          <a:xfrm>
            <a:off x="8924544" y="3886200"/>
            <a:ext cx="2606040" cy="1371600"/>
          </a:xfrm>
          <a:prstGeom prst="roundRect">
            <a:avLst>
              <a:gd name="adj" fmla="val 5333"/>
            </a:avLst>
          </a:prstGeom>
          <a:solidFill>
            <a:srgbClr val="1E3542"/>
          </a:solidFill>
          <a:ln w="12700">
            <a:solidFill>
              <a:srgbClr val="24404F"/>
            </a:solidFill>
            <a:prstDash val="solid"/>
          </a:ln>
        </p:spPr>
      </p:sp>
      <p:sp>
        <p:nvSpPr>
          <p:cNvPr id="27" name="Text 25"/>
          <p:cNvSpPr/>
          <p:nvPr/>
        </p:nvSpPr>
        <p:spPr>
          <a:xfrm>
            <a:off x="9089136" y="4032504"/>
            <a:ext cx="22860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Combinations</a:t>
            </a:r>
            <a:endParaRPr lang="en-US" sz="1400" dirty="0"/>
          </a:p>
        </p:txBody>
      </p:sp>
      <p:sp>
        <p:nvSpPr>
          <p:cNvPr id="28" name="Text 26"/>
          <p:cNvSpPr/>
          <p:nvPr/>
        </p:nvSpPr>
        <p:spPr>
          <a:xfrm>
            <a:off x="9089136" y="4434840"/>
            <a:ext cx="2286000" cy="6858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rain DURING rush hour</a:t>
            </a:r>
            <a:endParaRPr lang="en-US" sz="1100" dirty="0"/>
          </a:p>
        </p:txBody>
      </p:sp>
      <p:sp>
        <p:nvSpPr>
          <p:cNvPr id="29" name="Text 27"/>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Good clues matter more than a clever model. Every clue comes from at least 30 minutes before the prediction.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HONEST TESTING</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The exam is never seen in advance</a:t>
            </a:r>
            <a:endParaRPr lang="en-US" sz="3400" dirty="0"/>
          </a:p>
        </p:txBody>
      </p:sp>
      <p:sp>
        <p:nvSpPr>
          <p:cNvPr id="4" name="Shape 2"/>
          <p:cNvSpPr/>
          <p:nvPr/>
        </p:nvSpPr>
        <p:spPr>
          <a:xfrm>
            <a:off x="640080" y="1828800"/>
            <a:ext cx="5852160" cy="1371600"/>
          </a:xfrm>
          <a:prstGeom prst="roundRect">
            <a:avLst>
              <a:gd name="adj" fmla="val 4000"/>
            </a:avLst>
          </a:prstGeom>
          <a:solidFill>
            <a:srgbClr val="4FB3D9"/>
          </a:solidFill>
          <a:ln/>
        </p:spPr>
      </p:sp>
      <p:sp>
        <p:nvSpPr>
          <p:cNvPr id="5" name="Text 3"/>
          <p:cNvSpPr/>
          <p:nvPr/>
        </p:nvSpPr>
        <p:spPr>
          <a:xfrm>
            <a:off x="822960" y="2011680"/>
            <a:ext cx="5486400" cy="365760"/>
          </a:xfrm>
          <a:prstGeom prst="rect">
            <a:avLst/>
          </a:prstGeom>
          <a:noFill/>
          <a:ln/>
        </p:spPr>
        <p:txBody>
          <a:bodyPr wrap="square" lIns="0" tIns="0" rIns="0" bIns="0" rtlCol="0" anchor="ctr"/>
          <a:lstStyle/>
          <a:p>
            <a:pPr indent="0" marL="0">
              <a:buNone/>
            </a:pPr>
            <a:r>
              <a:rPr lang="en-US" sz="1500" b="1" dirty="0">
                <a:solidFill>
                  <a:srgbClr val="0E1B24"/>
                </a:solidFill>
                <a:latin typeface="Verdana" pitchFamily="34" charset="0"/>
                <a:ea typeface="Verdana" pitchFamily="34" charset="-122"/>
                <a:cs typeface="Verdana" pitchFamily="34" charset="-120"/>
              </a:rPr>
              <a:t>TRAINING</a:t>
            </a:r>
            <a:endParaRPr lang="en-US" sz="1500" dirty="0"/>
          </a:p>
        </p:txBody>
      </p:sp>
      <p:sp>
        <p:nvSpPr>
          <p:cNvPr id="6" name="Text 4"/>
          <p:cNvSpPr/>
          <p:nvPr/>
        </p:nvSpPr>
        <p:spPr>
          <a:xfrm>
            <a:off x="822960" y="2395728"/>
            <a:ext cx="5486400" cy="320040"/>
          </a:xfrm>
          <a:prstGeom prst="rect">
            <a:avLst/>
          </a:prstGeom>
          <a:noFill/>
          <a:ln/>
        </p:spPr>
        <p:txBody>
          <a:bodyPr wrap="square" lIns="0" tIns="0" rIns="0" bIns="0" rtlCol="0" anchor="ctr"/>
          <a:lstStyle/>
          <a:p>
            <a:pPr indent="0" marL="0">
              <a:buNone/>
            </a:pPr>
            <a:r>
              <a:rPr lang="en-US" sz="1200" dirty="0">
                <a:solidFill>
                  <a:srgbClr val="0E1B24"/>
                </a:solidFill>
                <a:latin typeface="Verdana" pitchFamily="34" charset="0"/>
                <a:ea typeface="Verdana" pitchFamily="34" charset="-122"/>
                <a:cs typeface="Verdana" pitchFamily="34" charset="-120"/>
              </a:rPr>
              <a:t>8 Jan – 18 Apr</a:t>
            </a:r>
            <a:endParaRPr lang="en-US" sz="1200" dirty="0"/>
          </a:p>
        </p:txBody>
      </p:sp>
      <p:sp>
        <p:nvSpPr>
          <p:cNvPr id="7" name="Text 5"/>
          <p:cNvSpPr/>
          <p:nvPr/>
        </p:nvSpPr>
        <p:spPr>
          <a:xfrm>
            <a:off x="822960" y="2724912"/>
            <a:ext cx="5486400" cy="320040"/>
          </a:xfrm>
          <a:prstGeom prst="rect">
            <a:avLst/>
          </a:prstGeom>
          <a:noFill/>
          <a:ln/>
        </p:spPr>
        <p:txBody>
          <a:bodyPr wrap="square" lIns="0" tIns="0" rIns="0" bIns="0" rtlCol="0" anchor="ctr"/>
          <a:lstStyle/>
          <a:p>
            <a:pPr indent="0" marL="0">
              <a:buNone/>
            </a:pPr>
            <a:r>
              <a:rPr lang="en-US" sz="1100" dirty="0">
                <a:solidFill>
                  <a:srgbClr val="0E1B24"/>
                </a:solidFill>
                <a:latin typeface="Verdana" pitchFamily="34" charset="0"/>
                <a:ea typeface="Verdana" pitchFamily="34" charset="-122"/>
                <a:cs typeface="Verdana" pitchFamily="34" charset="-120"/>
              </a:rPr>
              <a:t>120,950 rows</a:t>
            </a:r>
            <a:endParaRPr lang="en-US" sz="1100" dirty="0"/>
          </a:p>
        </p:txBody>
      </p:sp>
      <p:sp>
        <p:nvSpPr>
          <p:cNvPr id="8" name="Text 6"/>
          <p:cNvSpPr/>
          <p:nvPr/>
        </p:nvSpPr>
        <p:spPr>
          <a:xfrm>
            <a:off x="640080" y="3310128"/>
            <a:ext cx="5852160" cy="365760"/>
          </a:xfrm>
          <a:prstGeom prst="rect">
            <a:avLst/>
          </a:prstGeom>
          <a:noFill/>
          <a:ln/>
        </p:spPr>
        <p:txBody>
          <a:bodyPr wrap="square" lIns="0" tIns="0" rIns="0" bIns="0" rtlCol="0" anchor="ctr"/>
          <a:lstStyle/>
          <a:p>
            <a:pPr algn="ctr" indent="0" marL="0">
              <a:buNone/>
            </a:pPr>
            <a:r>
              <a:rPr lang="en-US" sz="1100" dirty="0">
                <a:solidFill>
                  <a:srgbClr val="7A96A5"/>
                </a:solidFill>
                <a:latin typeface="Verdana" pitchFamily="34" charset="0"/>
                <a:ea typeface="Verdana" pitchFamily="34" charset="-122"/>
                <a:cs typeface="Verdana" pitchFamily="34" charset="-120"/>
              </a:rPr>
              <a:t>learn the patterns</a:t>
            </a:r>
            <a:endParaRPr lang="en-US" sz="1100" dirty="0"/>
          </a:p>
        </p:txBody>
      </p:sp>
      <p:sp>
        <p:nvSpPr>
          <p:cNvPr id="9" name="Shape 7"/>
          <p:cNvSpPr/>
          <p:nvPr/>
        </p:nvSpPr>
        <p:spPr>
          <a:xfrm>
            <a:off x="6629400" y="1828800"/>
            <a:ext cx="2377440" cy="1371600"/>
          </a:xfrm>
          <a:prstGeom prst="roundRect">
            <a:avLst>
              <a:gd name="adj" fmla="val 4000"/>
            </a:avLst>
          </a:prstGeom>
          <a:solidFill>
            <a:srgbClr val="E0B341"/>
          </a:solidFill>
          <a:ln/>
        </p:spPr>
      </p:sp>
      <p:sp>
        <p:nvSpPr>
          <p:cNvPr id="10" name="Text 8"/>
          <p:cNvSpPr/>
          <p:nvPr/>
        </p:nvSpPr>
        <p:spPr>
          <a:xfrm>
            <a:off x="6812280" y="2011680"/>
            <a:ext cx="2011680" cy="365760"/>
          </a:xfrm>
          <a:prstGeom prst="rect">
            <a:avLst/>
          </a:prstGeom>
          <a:noFill/>
          <a:ln/>
        </p:spPr>
        <p:txBody>
          <a:bodyPr wrap="square" lIns="0" tIns="0" rIns="0" bIns="0" rtlCol="0" anchor="ctr"/>
          <a:lstStyle/>
          <a:p>
            <a:pPr indent="0" marL="0">
              <a:buNone/>
            </a:pPr>
            <a:r>
              <a:rPr lang="en-US" sz="1500" b="1" dirty="0">
                <a:solidFill>
                  <a:srgbClr val="0E1B24"/>
                </a:solidFill>
                <a:latin typeface="Verdana" pitchFamily="34" charset="0"/>
                <a:ea typeface="Verdana" pitchFamily="34" charset="-122"/>
                <a:cs typeface="Verdana" pitchFamily="34" charset="-120"/>
              </a:rPr>
              <a:t>VALIDATION</a:t>
            </a:r>
            <a:endParaRPr lang="en-US" sz="1500" dirty="0"/>
          </a:p>
        </p:txBody>
      </p:sp>
      <p:sp>
        <p:nvSpPr>
          <p:cNvPr id="11" name="Text 9"/>
          <p:cNvSpPr/>
          <p:nvPr/>
        </p:nvSpPr>
        <p:spPr>
          <a:xfrm>
            <a:off x="6812280" y="2395728"/>
            <a:ext cx="2011680" cy="320040"/>
          </a:xfrm>
          <a:prstGeom prst="rect">
            <a:avLst/>
          </a:prstGeom>
          <a:noFill/>
          <a:ln/>
        </p:spPr>
        <p:txBody>
          <a:bodyPr wrap="square" lIns="0" tIns="0" rIns="0" bIns="0" rtlCol="0" anchor="ctr"/>
          <a:lstStyle/>
          <a:p>
            <a:pPr indent="0" marL="0">
              <a:buNone/>
            </a:pPr>
            <a:r>
              <a:rPr lang="en-US" sz="1200" dirty="0">
                <a:solidFill>
                  <a:srgbClr val="0E1B24"/>
                </a:solidFill>
                <a:latin typeface="Verdana" pitchFamily="34" charset="0"/>
                <a:ea typeface="Verdana" pitchFamily="34" charset="-122"/>
                <a:cs typeface="Verdana" pitchFamily="34" charset="-120"/>
              </a:rPr>
              <a:t>19 Apr – 9 May</a:t>
            </a:r>
            <a:endParaRPr lang="en-US" sz="1200" dirty="0"/>
          </a:p>
        </p:txBody>
      </p:sp>
      <p:sp>
        <p:nvSpPr>
          <p:cNvPr id="12" name="Text 10"/>
          <p:cNvSpPr/>
          <p:nvPr/>
        </p:nvSpPr>
        <p:spPr>
          <a:xfrm>
            <a:off x="6812280" y="2724912"/>
            <a:ext cx="2011680" cy="320040"/>
          </a:xfrm>
          <a:prstGeom prst="rect">
            <a:avLst/>
          </a:prstGeom>
          <a:noFill/>
          <a:ln/>
        </p:spPr>
        <p:txBody>
          <a:bodyPr wrap="square" lIns="0" tIns="0" rIns="0" bIns="0" rtlCol="0" anchor="ctr"/>
          <a:lstStyle/>
          <a:p>
            <a:pPr indent="0" marL="0">
              <a:buNone/>
            </a:pPr>
            <a:r>
              <a:rPr lang="en-US" sz="1100" dirty="0">
                <a:solidFill>
                  <a:srgbClr val="0E1B24"/>
                </a:solidFill>
                <a:latin typeface="Verdana" pitchFamily="34" charset="0"/>
                <a:ea typeface="Verdana" pitchFamily="34" charset="-122"/>
                <a:cs typeface="Verdana" pitchFamily="34" charset="-120"/>
              </a:rPr>
              <a:t>25,925 rows</a:t>
            </a:r>
            <a:endParaRPr lang="en-US" sz="1100" dirty="0"/>
          </a:p>
        </p:txBody>
      </p:sp>
      <p:sp>
        <p:nvSpPr>
          <p:cNvPr id="13" name="Text 11"/>
          <p:cNvSpPr/>
          <p:nvPr/>
        </p:nvSpPr>
        <p:spPr>
          <a:xfrm>
            <a:off x="6629400" y="3310128"/>
            <a:ext cx="2377440" cy="365760"/>
          </a:xfrm>
          <a:prstGeom prst="rect">
            <a:avLst/>
          </a:prstGeom>
          <a:noFill/>
          <a:ln/>
        </p:spPr>
        <p:txBody>
          <a:bodyPr wrap="square" lIns="0" tIns="0" rIns="0" bIns="0" rtlCol="0" anchor="ctr"/>
          <a:lstStyle/>
          <a:p>
            <a:pPr algn="ctr" indent="0" marL="0">
              <a:buNone/>
            </a:pPr>
            <a:r>
              <a:rPr lang="en-US" sz="1100" dirty="0">
                <a:solidFill>
                  <a:srgbClr val="7A96A5"/>
                </a:solidFill>
                <a:latin typeface="Verdana" pitchFamily="34" charset="0"/>
                <a:ea typeface="Verdana" pitchFamily="34" charset="-122"/>
                <a:cs typeface="Verdana" pitchFamily="34" charset="-120"/>
              </a:rPr>
              <a:t>tune the settings</a:t>
            </a:r>
            <a:endParaRPr lang="en-US" sz="1100" dirty="0"/>
          </a:p>
        </p:txBody>
      </p:sp>
      <p:sp>
        <p:nvSpPr>
          <p:cNvPr id="14" name="Shape 12"/>
          <p:cNvSpPr/>
          <p:nvPr/>
        </p:nvSpPr>
        <p:spPr>
          <a:xfrm>
            <a:off x="9144000" y="1828800"/>
            <a:ext cx="2377440" cy="1371600"/>
          </a:xfrm>
          <a:prstGeom prst="roundRect">
            <a:avLst>
              <a:gd name="adj" fmla="val 4000"/>
            </a:avLst>
          </a:prstGeom>
          <a:solidFill>
            <a:srgbClr val="2E9E8F"/>
          </a:solidFill>
          <a:ln/>
        </p:spPr>
      </p:sp>
      <p:sp>
        <p:nvSpPr>
          <p:cNvPr id="15" name="Text 13"/>
          <p:cNvSpPr/>
          <p:nvPr/>
        </p:nvSpPr>
        <p:spPr>
          <a:xfrm>
            <a:off x="9326880" y="2011680"/>
            <a:ext cx="2011680" cy="365760"/>
          </a:xfrm>
          <a:prstGeom prst="rect">
            <a:avLst/>
          </a:prstGeom>
          <a:noFill/>
          <a:ln/>
        </p:spPr>
        <p:txBody>
          <a:bodyPr wrap="square" lIns="0" tIns="0" rIns="0" bIns="0" rtlCol="0" anchor="ctr"/>
          <a:lstStyle/>
          <a:p>
            <a:pPr indent="0" marL="0">
              <a:buNone/>
            </a:pPr>
            <a:r>
              <a:rPr lang="en-US" sz="1500" b="1" dirty="0">
                <a:solidFill>
                  <a:srgbClr val="0E1B24"/>
                </a:solidFill>
                <a:latin typeface="Verdana" pitchFamily="34" charset="0"/>
                <a:ea typeface="Verdana" pitchFamily="34" charset="-122"/>
                <a:cs typeface="Verdana" pitchFamily="34" charset="-120"/>
              </a:rPr>
              <a:t>TEST</a:t>
            </a:r>
            <a:endParaRPr lang="en-US" sz="1500" dirty="0"/>
          </a:p>
        </p:txBody>
      </p:sp>
      <p:sp>
        <p:nvSpPr>
          <p:cNvPr id="16" name="Text 14"/>
          <p:cNvSpPr/>
          <p:nvPr/>
        </p:nvSpPr>
        <p:spPr>
          <a:xfrm>
            <a:off x="9326880" y="2395728"/>
            <a:ext cx="2011680" cy="320040"/>
          </a:xfrm>
          <a:prstGeom prst="rect">
            <a:avLst/>
          </a:prstGeom>
          <a:noFill/>
          <a:ln/>
        </p:spPr>
        <p:txBody>
          <a:bodyPr wrap="square" lIns="0" tIns="0" rIns="0" bIns="0" rtlCol="0" anchor="ctr"/>
          <a:lstStyle/>
          <a:p>
            <a:pPr indent="0" marL="0">
              <a:buNone/>
            </a:pPr>
            <a:r>
              <a:rPr lang="en-US" sz="1200" dirty="0">
                <a:solidFill>
                  <a:srgbClr val="0E1B24"/>
                </a:solidFill>
                <a:latin typeface="Verdana" pitchFamily="34" charset="0"/>
                <a:ea typeface="Verdana" pitchFamily="34" charset="-122"/>
                <a:cs typeface="Verdana" pitchFamily="34" charset="-120"/>
              </a:rPr>
              <a:t>10 – 31 May</a:t>
            </a:r>
            <a:endParaRPr lang="en-US" sz="1200" dirty="0"/>
          </a:p>
        </p:txBody>
      </p:sp>
      <p:sp>
        <p:nvSpPr>
          <p:cNvPr id="17" name="Text 15"/>
          <p:cNvSpPr/>
          <p:nvPr/>
        </p:nvSpPr>
        <p:spPr>
          <a:xfrm>
            <a:off x="9326880" y="2724912"/>
            <a:ext cx="2011680" cy="320040"/>
          </a:xfrm>
          <a:prstGeom prst="rect">
            <a:avLst/>
          </a:prstGeom>
          <a:noFill/>
          <a:ln/>
        </p:spPr>
        <p:txBody>
          <a:bodyPr wrap="square" lIns="0" tIns="0" rIns="0" bIns="0" rtlCol="0" anchor="ctr"/>
          <a:lstStyle/>
          <a:p>
            <a:pPr indent="0" marL="0">
              <a:buNone/>
            </a:pPr>
            <a:r>
              <a:rPr lang="en-US" sz="1100" dirty="0">
                <a:solidFill>
                  <a:srgbClr val="0E1B24"/>
                </a:solidFill>
                <a:latin typeface="Verdana" pitchFamily="34" charset="0"/>
                <a:ea typeface="Verdana" pitchFamily="34" charset="-122"/>
                <a:cs typeface="Verdana" pitchFamily="34" charset="-120"/>
              </a:rPr>
              <a:t>25,925 rows</a:t>
            </a:r>
            <a:endParaRPr lang="en-US" sz="1100" dirty="0"/>
          </a:p>
        </p:txBody>
      </p:sp>
      <p:sp>
        <p:nvSpPr>
          <p:cNvPr id="18" name="Text 16"/>
          <p:cNvSpPr/>
          <p:nvPr/>
        </p:nvSpPr>
        <p:spPr>
          <a:xfrm>
            <a:off x="9144000" y="3310128"/>
            <a:ext cx="2377440" cy="365760"/>
          </a:xfrm>
          <a:prstGeom prst="rect">
            <a:avLst/>
          </a:prstGeom>
          <a:noFill/>
          <a:ln/>
        </p:spPr>
        <p:txBody>
          <a:bodyPr wrap="square" lIns="0" tIns="0" rIns="0" bIns="0" rtlCol="0" anchor="ctr"/>
          <a:lstStyle/>
          <a:p>
            <a:pPr algn="ctr" indent="0" marL="0">
              <a:buNone/>
            </a:pPr>
            <a:r>
              <a:rPr lang="en-US" sz="1100" dirty="0">
                <a:solidFill>
                  <a:srgbClr val="7A96A5"/>
                </a:solidFill>
                <a:latin typeface="Verdana" pitchFamily="34" charset="0"/>
                <a:ea typeface="Verdana" pitchFamily="34" charset="-122"/>
                <a:cs typeface="Verdana" pitchFamily="34" charset="-120"/>
              </a:rPr>
              <a:t>final score, used once</a:t>
            </a:r>
            <a:endParaRPr lang="en-US" sz="1100" dirty="0"/>
          </a:p>
        </p:txBody>
      </p:sp>
      <p:sp>
        <p:nvSpPr>
          <p:cNvPr id="19" name="Shape 17"/>
          <p:cNvSpPr/>
          <p:nvPr/>
        </p:nvSpPr>
        <p:spPr>
          <a:xfrm>
            <a:off x="640080" y="3977640"/>
            <a:ext cx="10881360" cy="1600200"/>
          </a:xfrm>
          <a:prstGeom prst="roundRect">
            <a:avLst>
              <a:gd name="adj" fmla="val 4571"/>
            </a:avLst>
          </a:prstGeom>
          <a:solidFill>
            <a:srgbClr val="1E3542"/>
          </a:solidFill>
          <a:ln w="12700">
            <a:solidFill>
              <a:srgbClr val="24404F"/>
            </a:solidFill>
            <a:prstDash val="solid"/>
          </a:ln>
        </p:spPr>
      </p:sp>
      <p:sp>
        <p:nvSpPr>
          <p:cNvPr id="20" name="Text 18"/>
          <p:cNvSpPr/>
          <p:nvPr/>
        </p:nvSpPr>
        <p:spPr>
          <a:xfrm>
            <a:off x="914400" y="4114800"/>
            <a:ext cx="10332720" cy="365760"/>
          </a:xfrm>
          <a:prstGeom prst="rect">
            <a:avLst/>
          </a:prstGeom>
          <a:noFill/>
          <a:ln/>
        </p:spPr>
        <p:txBody>
          <a:bodyPr wrap="square" lIns="0" tIns="0" rIns="0" bIns="0" rtlCol="0" anchor="ctr"/>
          <a:lstStyle/>
          <a:p>
            <a:pPr indent="0" marL="0">
              <a:buNone/>
            </a:pPr>
            <a:r>
              <a:rPr lang="en-US" sz="1600" b="1" dirty="0">
                <a:solidFill>
                  <a:srgbClr val="E8EEF1"/>
                </a:solidFill>
                <a:latin typeface="Verdana" pitchFamily="34" charset="0"/>
                <a:ea typeface="Verdana" pitchFamily="34" charset="-122"/>
                <a:cs typeface="Verdana" pitchFamily="34" charset="-120"/>
              </a:rPr>
              <a:t>Why split by date and not randomly?</a:t>
            </a:r>
            <a:endParaRPr lang="en-US" sz="1600" dirty="0"/>
          </a:p>
        </p:txBody>
      </p:sp>
      <p:sp>
        <p:nvSpPr>
          <p:cNvPr id="21" name="Text 19"/>
          <p:cNvSpPr/>
          <p:nvPr/>
        </p:nvSpPr>
        <p:spPr>
          <a:xfrm>
            <a:off x="914400" y="4526280"/>
            <a:ext cx="10332720" cy="914400"/>
          </a:xfrm>
          <a:prstGeom prst="rect">
            <a:avLst/>
          </a:prstGeom>
          <a:noFill/>
          <a:ln/>
        </p:spPr>
        <p:txBody>
          <a:bodyPr wrap="square" lIns="0" tIns="0" rIns="0" bIns="0" rtlCol="0" anchor="ctr"/>
          <a:lstStyle/>
          <a:p>
            <a:pPr indent="0" marL="0">
              <a:buNone/>
            </a:pPr>
            <a:r>
              <a:rPr lang="en-US" sz="1400" dirty="0">
                <a:solidFill>
                  <a:srgbClr val="7A96A5"/>
                </a:solidFill>
                <a:latin typeface="Verdana" pitchFamily="34" charset="0"/>
                <a:ea typeface="Verdana" pitchFamily="34" charset="-122"/>
                <a:cs typeface="Verdana" pitchFamily="34" charset="-120"/>
              </a:rPr>
              <a:t>Random splitting would put 3:00pm Tuesday in training and 3:30pm Tuesday in the test. The model would be predicting a gap it has already seen both sides of — impossible in real life, because the future hasn't happened yet.</a:t>
            </a:r>
            <a:endParaRPr lang="en-US" sz="1400" dirty="0"/>
          </a:p>
        </p:txBody>
      </p:sp>
      <p:sp>
        <p:nvSpPr>
          <p:cNvPr id="22" name="Text 20"/>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The final three weeks are hidden completely during learning, then used exactly once.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RESULTS</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Six methods, one hidden test set</a:t>
            </a:r>
            <a:endParaRPr lang="en-US" sz="3400" dirty="0"/>
          </a:p>
        </p:txBody>
      </p:sp>
      <p:graphicFrame>
        <p:nvGraphicFramePr>
          <p:cNvPr id="4" name="Chart 0" descr=""/>
          <p:cNvGraphicFramePr/>
          <p:nvPr/>
        </p:nvGraphicFramePr>
        <p:xfrm>
          <a:off x="640080" y="1691640"/>
          <a:ext cx="10881360" cy="3749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Lower is better. Tested on 10–31 May 2025 — three weeks the models never saw during training.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THE HEADLINE</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8.9% error — and 45% better than free</a:t>
            </a:r>
            <a:endParaRPr lang="en-US" sz="3400" dirty="0"/>
          </a:p>
        </p:txBody>
      </p:sp>
      <p:sp>
        <p:nvSpPr>
          <p:cNvPr id="4" name="Shape 2"/>
          <p:cNvSpPr/>
          <p:nvPr/>
        </p:nvSpPr>
        <p:spPr>
          <a:xfrm>
            <a:off x="640080" y="1828800"/>
            <a:ext cx="3520440" cy="1371600"/>
          </a:xfrm>
          <a:prstGeom prst="roundRect">
            <a:avLst>
              <a:gd name="adj" fmla="val 5333"/>
            </a:avLst>
          </a:prstGeom>
          <a:solidFill>
            <a:srgbClr val="1E3542"/>
          </a:solidFill>
          <a:ln w="12700">
            <a:solidFill>
              <a:srgbClr val="24404F"/>
            </a:solidFill>
            <a:prstDash val="solid"/>
          </a:ln>
        </p:spPr>
      </p:sp>
      <p:sp>
        <p:nvSpPr>
          <p:cNvPr id="5" name="Text 3"/>
          <p:cNvSpPr/>
          <p:nvPr/>
        </p:nvSpPr>
        <p:spPr>
          <a:xfrm>
            <a:off x="822960" y="1993392"/>
            <a:ext cx="3154680" cy="603504"/>
          </a:xfrm>
          <a:prstGeom prst="rect">
            <a:avLst/>
          </a:prstGeom>
          <a:noFill/>
          <a:ln/>
        </p:spPr>
        <p:txBody>
          <a:bodyPr wrap="square" lIns="0" tIns="0" rIns="0" bIns="0" rtlCol="0" anchor="ctr"/>
          <a:lstStyle/>
          <a:p>
            <a:pPr indent="0" marL="0">
              <a:buNone/>
            </a:pPr>
            <a:r>
              <a:rPr lang="en-US" sz="3200" b="1" dirty="0">
                <a:solidFill>
                  <a:srgbClr val="2E9E8F"/>
                </a:solidFill>
                <a:latin typeface="Verdana" pitchFamily="34" charset="0"/>
                <a:ea typeface="Verdana" pitchFamily="34" charset="-122"/>
                <a:cs typeface="Verdana" pitchFamily="34" charset="-120"/>
              </a:rPr>
              <a:t>8.9%</a:t>
            </a:r>
            <a:endParaRPr lang="en-US" sz="3200" dirty="0"/>
          </a:p>
        </p:txBody>
      </p:sp>
      <p:sp>
        <p:nvSpPr>
          <p:cNvPr id="6" name="Text 4"/>
          <p:cNvSpPr/>
          <p:nvPr/>
        </p:nvSpPr>
        <p:spPr>
          <a:xfrm>
            <a:off x="822960" y="2615184"/>
            <a:ext cx="31546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average prediction error</a:t>
            </a:r>
            <a:endParaRPr lang="en-US" sz="1100" dirty="0"/>
          </a:p>
        </p:txBody>
      </p:sp>
      <p:sp>
        <p:nvSpPr>
          <p:cNvPr id="7" name="Shape 5"/>
          <p:cNvSpPr/>
          <p:nvPr/>
        </p:nvSpPr>
        <p:spPr>
          <a:xfrm>
            <a:off x="4315968" y="1828800"/>
            <a:ext cx="3520440" cy="1371600"/>
          </a:xfrm>
          <a:prstGeom prst="roundRect">
            <a:avLst>
              <a:gd name="adj" fmla="val 5333"/>
            </a:avLst>
          </a:prstGeom>
          <a:solidFill>
            <a:srgbClr val="1E3542"/>
          </a:solidFill>
          <a:ln w="12700">
            <a:solidFill>
              <a:srgbClr val="24404F"/>
            </a:solidFill>
            <a:prstDash val="solid"/>
          </a:ln>
        </p:spPr>
      </p:sp>
      <p:sp>
        <p:nvSpPr>
          <p:cNvPr id="8" name="Text 6"/>
          <p:cNvSpPr/>
          <p:nvPr/>
        </p:nvSpPr>
        <p:spPr>
          <a:xfrm>
            <a:off x="4498848" y="1993392"/>
            <a:ext cx="3154680" cy="603504"/>
          </a:xfrm>
          <a:prstGeom prst="rect">
            <a:avLst/>
          </a:prstGeom>
          <a:noFill/>
          <a:ln/>
        </p:spPr>
        <p:txBody>
          <a:bodyPr wrap="square" lIns="0" tIns="0" rIns="0" bIns="0" rtlCol="0" anchor="ctr"/>
          <a:lstStyle/>
          <a:p>
            <a:pPr indent="0" marL="0">
              <a:buNone/>
            </a:pPr>
            <a:r>
              <a:rPr lang="en-US" sz="3200" b="1" dirty="0">
                <a:solidFill>
                  <a:srgbClr val="7A96A5"/>
                </a:solidFill>
                <a:latin typeface="Verdana" pitchFamily="34" charset="0"/>
                <a:ea typeface="Verdana" pitchFamily="34" charset="-122"/>
                <a:cs typeface="Verdana" pitchFamily="34" charset="-120"/>
              </a:rPr>
              <a:t>16.0%</a:t>
            </a:r>
            <a:endParaRPr lang="en-US" sz="3200" dirty="0"/>
          </a:p>
        </p:txBody>
      </p:sp>
      <p:sp>
        <p:nvSpPr>
          <p:cNvPr id="9" name="Text 7"/>
          <p:cNvSpPr/>
          <p:nvPr/>
        </p:nvSpPr>
        <p:spPr>
          <a:xfrm>
            <a:off x="4498848" y="2615184"/>
            <a:ext cx="31546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error from assuming no change</a:t>
            </a:r>
            <a:endParaRPr lang="en-US" sz="1100" dirty="0"/>
          </a:p>
        </p:txBody>
      </p:sp>
      <p:sp>
        <p:nvSpPr>
          <p:cNvPr id="10" name="Shape 8"/>
          <p:cNvSpPr/>
          <p:nvPr/>
        </p:nvSpPr>
        <p:spPr>
          <a:xfrm>
            <a:off x="8001000" y="1828800"/>
            <a:ext cx="3520440" cy="1371600"/>
          </a:xfrm>
          <a:prstGeom prst="roundRect">
            <a:avLst>
              <a:gd name="adj" fmla="val 5333"/>
            </a:avLst>
          </a:prstGeom>
          <a:solidFill>
            <a:srgbClr val="1E3542"/>
          </a:solidFill>
          <a:ln w="12700">
            <a:solidFill>
              <a:srgbClr val="24404F"/>
            </a:solidFill>
            <a:prstDash val="solid"/>
          </a:ln>
        </p:spPr>
      </p:sp>
      <p:sp>
        <p:nvSpPr>
          <p:cNvPr id="11" name="Text 9"/>
          <p:cNvSpPr/>
          <p:nvPr/>
        </p:nvSpPr>
        <p:spPr>
          <a:xfrm>
            <a:off x="8183880" y="1993392"/>
            <a:ext cx="3154680" cy="603504"/>
          </a:xfrm>
          <a:prstGeom prst="rect">
            <a:avLst/>
          </a:prstGeom>
          <a:noFill/>
          <a:ln/>
        </p:spPr>
        <p:txBody>
          <a:bodyPr wrap="square" lIns="0" tIns="0" rIns="0" bIns="0" rtlCol="0" anchor="ctr"/>
          <a:lstStyle/>
          <a:p>
            <a:pPr indent="0" marL="0">
              <a:buNone/>
            </a:pPr>
            <a:r>
              <a:rPr lang="en-US" sz="3200" b="1" dirty="0">
                <a:solidFill>
                  <a:srgbClr val="2E9E8F"/>
                </a:solidFill>
                <a:latin typeface="Verdana" pitchFamily="34" charset="0"/>
                <a:ea typeface="Verdana" pitchFamily="34" charset="-122"/>
                <a:cs typeface="Verdana" pitchFamily="34" charset="-120"/>
              </a:rPr>
              <a:t>45%</a:t>
            </a:r>
            <a:endParaRPr lang="en-US" sz="3200" dirty="0"/>
          </a:p>
        </p:txBody>
      </p:sp>
      <p:sp>
        <p:nvSpPr>
          <p:cNvPr id="12" name="Text 10"/>
          <p:cNvSpPr/>
          <p:nvPr/>
        </p:nvSpPr>
        <p:spPr>
          <a:xfrm>
            <a:off x="8183880" y="2615184"/>
            <a:ext cx="31546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reduction in error</a:t>
            </a:r>
            <a:endParaRPr lang="en-US" sz="1100" dirty="0"/>
          </a:p>
        </p:txBody>
      </p:sp>
      <p:sp>
        <p:nvSpPr>
          <p:cNvPr id="13" name="Shape 11"/>
          <p:cNvSpPr/>
          <p:nvPr/>
        </p:nvSpPr>
        <p:spPr>
          <a:xfrm>
            <a:off x="640080" y="3566160"/>
            <a:ext cx="10881360" cy="1234440"/>
          </a:xfrm>
          <a:prstGeom prst="roundRect">
            <a:avLst>
              <a:gd name="adj" fmla="val 5926"/>
            </a:avLst>
          </a:prstGeom>
          <a:solidFill>
            <a:srgbClr val="1E3542"/>
          </a:solidFill>
          <a:ln w="12700">
            <a:solidFill>
              <a:srgbClr val="24404F"/>
            </a:solidFill>
            <a:prstDash val="solid"/>
          </a:ln>
        </p:spPr>
      </p:sp>
      <p:sp>
        <p:nvSpPr>
          <p:cNvPr id="14" name="Text 12"/>
          <p:cNvSpPr/>
          <p:nvPr/>
        </p:nvSpPr>
        <p:spPr>
          <a:xfrm>
            <a:off x="914400" y="3794760"/>
            <a:ext cx="10332720" cy="457200"/>
          </a:xfrm>
          <a:prstGeom prst="rect">
            <a:avLst/>
          </a:prstGeom>
          <a:noFill/>
          <a:ln/>
        </p:spPr>
        <p:txBody>
          <a:bodyPr wrap="square" lIns="0" tIns="0" rIns="0" bIns="0" rtlCol="0" anchor="ctr"/>
          <a:lstStyle/>
          <a:p>
            <a:pPr indent="0" marL="0">
              <a:buNone/>
            </a:pPr>
            <a:r>
              <a:rPr lang="en-US" sz="1900" b="1" dirty="0">
                <a:solidFill>
                  <a:srgbClr val="E8EEF1"/>
                </a:solidFill>
                <a:latin typeface="Verdana" pitchFamily="34" charset="0"/>
                <a:ea typeface="Verdana" pitchFamily="34" charset="-122"/>
                <a:cs typeface="Verdana" pitchFamily="34" charset="-120"/>
              </a:rPr>
              <a:t>If 200 vehicles actually pass, the system typically predicts between 182 and 218.</a:t>
            </a:r>
            <a:endParaRPr lang="en-US" sz="1900" dirty="0"/>
          </a:p>
        </p:txBody>
      </p:sp>
      <p:sp>
        <p:nvSpPr>
          <p:cNvPr id="15" name="Text 13"/>
          <p:cNvSpPr/>
          <p:nvPr/>
        </p:nvSpPr>
        <p:spPr>
          <a:xfrm>
            <a:off x="914400" y="4251960"/>
            <a:ext cx="10332720" cy="411480"/>
          </a:xfrm>
          <a:prstGeom prst="rect">
            <a:avLst/>
          </a:prstGeom>
          <a:noFill/>
          <a:ln/>
        </p:spPr>
        <p:txBody>
          <a:bodyPr wrap="square" lIns="0" tIns="0" rIns="0" bIns="0" rtlCol="0" anchor="ctr"/>
          <a:lstStyle/>
          <a:p>
            <a:pPr indent="0" marL="0">
              <a:buNone/>
            </a:pPr>
            <a:r>
              <a:rPr lang="en-US" sz="1600" dirty="0">
                <a:solidFill>
                  <a:srgbClr val="4FB3D9"/>
                </a:solidFill>
                <a:latin typeface="Verdana" pitchFamily="34" charset="0"/>
                <a:ea typeface="Verdana" pitchFamily="34" charset="-122"/>
                <a:cs typeface="Verdana" pitchFamily="34" charset="-120"/>
              </a:rPr>
              <a:t>Half an hour before it happens.</a:t>
            </a:r>
            <a:endParaRPr lang="en-US" sz="1600" dirty="0"/>
          </a:p>
        </p:txBody>
      </p:sp>
      <p:sp>
        <p:nvSpPr>
          <p:cNvPr id="16" name="Shape 14"/>
          <p:cNvSpPr/>
          <p:nvPr/>
        </p:nvSpPr>
        <p:spPr>
          <a:xfrm>
            <a:off x="640080" y="4983480"/>
            <a:ext cx="3529584" cy="777240"/>
          </a:xfrm>
          <a:prstGeom prst="roundRect">
            <a:avLst>
              <a:gd name="adj" fmla="val 9412"/>
            </a:avLst>
          </a:prstGeom>
          <a:solidFill>
            <a:srgbClr val="1E3542"/>
          </a:solidFill>
          <a:ln w="12700">
            <a:solidFill>
              <a:srgbClr val="24404F"/>
            </a:solidFill>
            <a:prstDash val="solid"/>
          </a:ln>
        </p:spPr>
      </p:sp>
      <p:sp>
        <p:nvSpPr>
          <p:cNvPr id="17" name="Text 15"/>
          <p:cNvSpPr/>
          <p:nvPr/>
        </p:nvSpPr>
        <p:spPr>
          <a:xfrm>
            <a:off x="822960" y="5102352"/>
            <a:ext cx="3108960" cy="274320"/>
          </a:xfrm>
          <a:prstGeom prst="rect">
            <a:avLst/>
          </a:prstGeom>
          <a:noFill/>
          <a:ln/>
        </p:spPr>
        <p:txBody>
          <a:bodyPr wrap="square" lIns="0" tIns="0" rIns="0" bIns="0" rtlCol="0" anchor="ctr"/>
          <a:lstStyle/>
          <a:p>
            <a:pPr indent="0" marL="0">
              <a:buNone/>
            </a:pPr>
            <a:r>
              <a:rPr lang="en-US" sz="1200" dirty="0">
                <a:solidFill>
                  <a:srgbClr val="7A96A5"/>
                </a:solidFill>
                <a:latin typeface="Verdana" pitchFamily="34" charset="0"/>
                <a:ea typeface="Verdana" pitchFamily="34" charset="-122"/>
                <a:cs typeface="Verdana" pitchFamily="34" charset="-120"/>
              </a:rPr>
              <a:t>Speed</a:t>
            </a:r>
            <a:endParaRPr lang="en-US" sz="1200" dirty="0"/>
          </a:p>
        </p:txBody>
      </p:sp>
      <p:sp>
        <p:nvSpPr>
          <p:cNvPr id="18" name="Text 16"/>
          <p:cNvSpPr/>
          <p:nvPr/>
        </p:nvSpPr>
        <p:spPr>
          <a:xfrm>
            <a:off x="822960" y="5358384"/>
            <a:ext cx="3108960" cy="320040"/>
          </a:xfrm>
          <a:prstGeom prst="rect">
            <a:avLst/>
          </a:prstGeom>
          <a:noFill/>
          <a:ln/>
        </p:spPr>
        <p:txBody>
          <a:bodyPr wrap="square" lIns="0" tIns="0" rIns="0" bIns="0" rtlCol="0" anchor="ctr"/>
          <a:lstStyle/>
          <a:p>
            <a:pPr indent="0" marL="0">
              <a:buNone/>
            </a:pPr>
            <a:r>
              <a:rPr lang="en-US" sz="1500" b="1" dirty="0">
                <a:solidFill>
                  <a:srgbClr val="E8EEF1"/>
                </a:solidFill>
                <a:latin typeface="Verdana" pitchFamily="34" charset="0"/>
                <a:ea typeface="Verdana" pitchFamily="34" charset="-122"/>
                <a:cs typeface="Verdana" pitchFamily="34" charset="-120"/>
              </a:rPr>
              <a:t>8.3% error</a:t>
            </a:r>
            <a:endParaRPr lang="en-US" sz="1500" dirty="0"/>
          </a:p>
        </p:txBody>
      </p:sp>
      <p:sp>
        <p:nvSpPr>
          <p:cNvPr id="19" name="Shape 17"/>
          <p:cNvSpPr/>
          <p:nvPr/>
        </p:nvSpPr>
        <p:spPr>
          <a:xfrm>
            <a:off x="4325112" y="4983480"/>
            <a:ext cx="3529584" cy="777240"/>
          </a:xfrm>
          <a:prstGeom prst="roundRect">
            <a:avLst>
              <a:gd name="adj" fmla="val 9412"/>
            </a:avLst>
          </a:prstGeom>
          <a:solidFill>
            <a:srgbClr val="1E3542"/>
          </a:solidFill>
          <a:ln w="12700">
            <a:solidFill>
              <a:srgbClr val="24404F"/>
            </a:solidFill>
            <a:prstDash val="solid"/>
          </a:ln>
        </p:spPr>
      </p:sp>
      <p:sp>
        <p:nvSpPr>
          <p:cNvPr id="20" name="Text 18"/>
          <p:cNvSpPr/>
          <p:nvPr/>
        </p:nvSpPr>
        <p:spPr>
          <a:xfrm>
            <a:off x="4507992" y="5102352"/>
            <a:ext cx="3108960" cy="274320"/>
          </a:xfrm>
          <a:prstGeom prst="rect">
            <a:avLst/>
          </a:prstGeom>
          <a:noFill/>
          <a:ln/>
        </p:spPr>
        <p:txBody>
          <a:bodyPr wrap="square" lIns="0" tIns="0" rIns="0" bIns="0" rtlCol="0" anchor="ctr"/>
          <a:lstStyle/>
          <a:p>
            <a:pPr indent="0" marL="0">
              <a:buNone/>
            </a:pPr>
            <a:r>
              <a:rPr lang="en-US" sz="1200" dirty="0">
                <a:solidFill>
                  <a:srgbClr val="7A96A5"/>
                </a:solidFill>
                <a:latin typeface="Verdana" pitchFamily="34" charset="0"/>
                <a:ea typeface="Verdana" pitchFamily="34" charset="-122"/>
                <a:cs typeface="Verdana" pitchFamily="34" charset="-120"/>
              </a:rPr>
              <a:t>Travel time</a:t>
            </a:r>
            <a:endParaRPr lang="en-US" sz="1200" dirty="0"/>
          </a:p>
        </p:txBody>
      </p:sp>
      <p:sp>
        <p:nvSpPr>
          <p:cNvPr id="21" name="Text 19"/>
          <p:cNvSpPr/>
          <p:nvPr/>
        </p:nvSpPr>
        <p:spPr>
          <a:xfrm>
            <a:off x="4507992" y="5358384"/>
            <a:ext cx="3108960" cy="320040"/>
          </a:xfrm>
          <a:prstGeom prst="rect">
            <a:avLst/>
          </a:prstGeom>
          <a:noFill/>
          <a:ln/>
        </p:spPr>
        <p:txBody>
          <a:bodyPr wrap="square" lIns="0" tIns="0" rIns="0" bIns="0" rtlCol="0" anchor="ctr"/>
          <a:lstStyle/>
          <a:p>
            <a:pPr indent="0" marL="0">
              <a:buNone/>
            </a:pPr>
            <a:r>
              <a:rPr lang="en-US" sz="1500" b="1" dirty="0">
                <a:solidFill>
                  <a:srgbClr val="E8EEF1"/>
                </a:solidFill>
                <a:latin typeface="Verdana" pitchFamily="34" charset="0"/>
                <a:ea typeface="Verdana" pitchFamily="34" charset="-122"/>
                <a:cs typeface="Verdana" pitchFamily="34" charset="-120"/>
              </a:rPr>
              <a:t>9.1% error</a:t>
            </a:r>
            <a:endParaRPr lang="en-US" sz="1500" dirty="0"/>
          </a:p>
        </p:txBody>
      </p:sp>
      <p:sp>
        <p:nvSpPr>
          <p:cNvPr id="22" name="Shape 20"/>
          <p:cNvSpPr/>
          <p:nvPr/>
        </p:nvSpPr>
        <p:spPr>
          <a:xfrm>
            <a:off x="8010144" y="4983480"/>
            <a:ext cx="3529584" cy="777240"/>
          </a:xfrm>
          <a:prstGeom prst="roundRect">
            <a:avLst>
              <a:gd name="adj" fmla="val 9412"/>
            </a:avLst>
          </a:prstGeom>
          <a:solidFill>
            <a:srgbClr val="1E3542"/>
          </a:solidFill>
          <a:ln w="12700">
            <a:solidFill>
              <a:srgbClr val="24404F"/>
            </a:solidFill>
            <a:prstDash val="solid"/>
          </a:ln>
        </p:spPr>
      </p:sp>
      <p:sp>
        <p:nvSpPr>
          <p:cNvPr id="23" name="Text 21"/>
          <p:cNvSpPr/>
          <p:nvPr/>
        </p:nvSpPr>
        <p:spPr>
          <a:xfrm>
            <a:off x="8193024" y="5102352"/>
            <a:ext cx="3108960" cy="274320"/>
          </a:xfrm>
          <a:prstGeom prst="rect">
            <a:avLst/>
          </a:prstGeom>
          <a:noFill/>
          <a:ln/>
        </p:spPr>
        <p:txBody>
          <a:bodyPr wrap="square" lIns="0" tIns="0" rIns="0" bIns="0" rtlCol="0" anchor="ctr"/>
          <a:lstStyle/>
          <a:p>
            <a:pPr indent="0" marL="0">
              <a:buNone/>
            </a:pPr>
            <a:r>
              <a:rPr lang="en-US" sz="1200" dirty="0">
                <a:solidFill>
                  <a:srgbClr val="7A96A5"/>
                </a:solidFill>
                <a:latin typeface="Verdana" pitchFamily="34" charset="0"/>
                <a:ea typeface="Verdana" pitchFamily="34" charset="-122"/>
                <a:cs typeface="Verdana" pitchFamily="34" charset="-120"/>
              </a:rPr>
              <a:t>Prediction speed</a:t>
            </a:r>
            <a:endParaRPr lang="en-US" sz="1200" dirty="0"/>
          </a:p>
        </p:txBody>
      </p:sp>
      <p:sp>
        <p:nvSpPr>
          <p:cNvPr id="24" name="Text 22"/>
          <p:cNvSpPr/>
          <p:nvPr/>
        </p:nvSpPr>
        <p:spPr>
          <a:xfrm>
            <a:off x="8193024" y="5358384"/>
            <a:ext cx="3108960" cy="320040"/>
          </a:xfrm>
          <a:prstGeom prst="rect">
            <a:avLst/>
          </a:prstGeom>
          <a:noFill/>
          <a:ln/>
        </p:spPr>
        <p:txBody>
          <a:bodyPr wrap="square" lIns="0" tIns="0" rIns="0" bIns="0" rtlCol="0" anchor="ctr"/>
          <a:lstStyle/>
          <a:p>
            <a:pPr indent="0" marL="0">
              <a:buNone/>
            </a:pPr>
            <a:r>
              <a:rPr lang="en-US" sz="1500" b="1" dirty="0">
                <a:solidFill>
                  <a:srgbClr val="E8EEF1"/>
                </a:solidFill>
                <a:latin typeface="Verdana" pitchFamily="34" charset="0"/>
                <a:ea typeface="Verdana" pitchFamily="34" charset="-122"/>
                <a:cs typeface="Verdana" pitchFamily="34" charset="-120"/>
              </a:rPr>
              <a:t>0.02 seconds</a:t>
            </a:r>
            <a:endParaRPr lang="en-US" sz="1500" dirty="0"/>
          </a:p>
        </p:txBody>
      </p:sp>
      <p:sp>
        <p:nvSpPr>
          <p:cNvPr id="25" name="Text 23"/>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Whole corridor forecast in 0.02 seconds against a requirement of 30 seconds.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WHAT DIDN'T WORK</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Two targets missed — for different reasons</a:t>
            </a:r>
            <a:endParaRPr lang="en-US" sz="3400" dirty="0"/>
          </a:p>
        </p:txBody>
      </p:sp>
      <p:sp>
        <p:nvSpPr>
          <p:cNvPr id="4" name="Shape 2"/>
          <p:cNvSpPr/>
          <p:nvPr/>
        </p:nvSpPr>
        <p:spPr>
          <a:xfrm>
            <a:off x="640080" y="1737360"/>
            <a:ext cx="5257800" cy="3657600"/>
          </a:xfrm>
          <a:prstGeom prst="roundRect">
            <a:avLst>
              <a:gd name="adj" fmla="val 2000"/>
            </a:avLst>
          </a:prstGeom>
          <a:solidFill>
            <a:srgbClr val="1E3542"/>
          </a:solidFill>
          <a:ln w="12700">
            <a:solidFill>
              <a:srgbClr val="24404F"/>
            </a:solidFill>
            <a:prstDash val="solid"/>
          </a:ln>
        </p:spPr>
      </p:sp>
      <p:sp>
        <p:nvSpPr>
          <p:cNvPr id="5" name="Text 3"/>
          <p:cNvSpPr/>
          <p:nvPr/>
        </p:nvSpPr>
        <p:spPr>
          <a:xfrm>
            <a:off x="868680" y="1920240"/>
            <a:ext cx="4754880" cy="365760"/>
          </a:xfrm>
          <a:prstGeom prst="rect">
            <a:avLst/>
          </a:prstGeom>
          <a:noFill/>
          <a:ln/>
        </p:spPr>
        <p:txBody>
          <a:bodyPr wrap="square" lIns="0" tIns="0" rIns="0" bIns="0" rtlCol="0" anchor="ctr"/>
          <a:lstStyle/>
          <a:p>
            <a:pPr indent="0" marL="0">
              <a:buNone/>
            </a:pPr>
            <a:r>
              <a:rPr lang="en-US" sz="1800" b="1" dirty="0">
                <a:solidFill>
                  <a:srgbClr val="E0B341"/>
                </a:solidFill>
                <a:latin typeface="Verdana" pitchFamily="34" charset="0"/>
                <a:ea typeface="Verdana" pitchFamily="34" charset="-122"/>
                <a:cs typeface="Verdana" pitchFamily="34" charset="-120"/>
              </a:rPr>
              <a:t>Congestion classification</a:t>
            </a:r>
            <a:endParaRPr lang="en-US" sz="1800" dirty="0"/>
          </a:p>
        </p:txBody>
      </p:sp>
      <p:sp>
        <p:nvSpPr>
          <p:cNvPr id="6" name="Text 4"/>
          <p:cNvSpPr/>
          <p:nvPr/>
        </p:nvSpPr>
        <p:spPr>
          <a:xfrm>
            <a:off x="868680" y="2331720"/>
            <a:ext cx="4754880" cy="457200"/>
          </a:xfrm>
          <a:prstGeom prst="rect">
            <a:avLst/>
          </a:prstGeom>
          <a:noFill/>
          <a:ln/>
        </p:spPr>
        <p:txBody>
          <a:bodyPr wrap="square" lIns="0" tIns="0" rIns="0" bIns="0" rtlCol="0" anchor="ctr"/>
          <a:lstStyle/>
          <a:p>
            <a:pPr indent="0" marL="0">
              <a:buNone/>
            </a:pPr>
            <a:r>
              <a:rPr lang="en-US" sz="2200" b="1" dirty="0">
                <a:solidFill>
                  <a:srgbClr val="E8EEF1"/>
                </a:solidFill>
                <a:latin typeface="Verdana" pitchFamily="34" charset="0"/>
                <a:ea typeface="Verdana" pitchFamily="34" charset="-122"/>
                <a:cs typeface="Verdana" pitchFamily="34" charset="-120"/>
              </a:rPr>
              <a:t>0.77   /   target 0.80</a:t>
            </a:r>
            <a:endParaRPr lang="en-US" sz="2200" dirty="0"/>
          </a:p>
        </p:txBody>
      </p:sp>
      <p:sp>
        <p:nvSpPr>
          <p:cNvPr id="7" name="Text 5"/>
          <p:cNvSpPr/>
          <p:nvPr/>
        </p:nvSpPr>
        <p:spPr>
          <a:xfrm>
            <a:off x="868680" y="2926080"/>
            <a:ext cx="4754880" cy="2286000"/>
          </a:xfrm>
          <a:prstGeom prst="rect">
            <a:avLst/>
          </a:prstGeom>
          <a:noFill/>
          <a:ln/>
        </p:spPr>
        <p:txBody>
          <a:bodyPr wrap="square" lIns="0" tIns="0" rIns="0" bIns="0" rtlCol="0" anchor="ctr"/>
          <a:lstStyle/>
          <a:p>
            <a:pPr indent="0" marL="0">
              <a:lnSpc>
                <a:spcPts val="1900"/>
              </a:lnSpc>
              <a:buNone/>
            </a:pPr>
            <a:r>
              <a:rPr lang="en-US" sz="1300" b="1" dirty="0">
                <a:solidFill>
                  <a:srgbClr val="7A96A5"/>
                </a:solidFill>
                <a:latin typeface="Verdana" pitchFamily="34" charset="0"/>
                <a:ea typeface="Verdana" pitchFamily="34" charset="-122"/>
                <a:cs typeface="Verdana" pitchFamily="34" charset="-120"/>
              </a:rPr>
              <a:t>A metric problem, not a model problem.</a:t>
            </a:r>
            <a:endParaRPr lang="en-US" sz="1300" dirty="0"/>
          </a:p>
          <a:p>
            <a:pPr indent="0" marL="0">
              <a:lnSpc>
                <a:spcPts val="1900"/>
              </a:lnSpc>
              <a:buNone/>
            </a:pPr>
            <a:endParaRPr lang="en-US" sz="1300" dirty="0"/>
          </a:p>
          <a:p>
            <a:pPr indent="0" marL="0">
              <a:lnSpc>
                <a:spcPts val="1900"/>
              </a:lnSpc>
              <a:buNone/>
            </a:pPr>
            <a:r>
              <a:rPr lang="en-US" sz="1300" dirty="0">
                <a:solidFill>
                  <a:srgbClr val="7A96A5"/>
                </a:solidFill>
                <a:latin typeface="Verdana" pitchFamily="34" charset="0"/>
                <a:ea typeface="Verdana" pitchFamily="34" charset="-122"/>
                <a:cs typeface="Verdana" pitchFamily="34" charset="-120"/>
              </a:rPr>
              <a:t>The score weights all four categories equally — but 'Severe' is only 5.5% of slots, so the model sees few examples of it.</a:t>
            </a:r>
            <a:endParaRPr lang="en-US" sz="1300" dirty="0"/>
          </a:p>
          <a:p>
            <a:pPr indent="0" marL="0">
              <a:lnSpc>
                <a:spcPts val="1900"/>
              </a:lnSpc>
              <a:buNone/>
            </a:pPr>
            <a:endParaRPr lang="en-US" sz="1300" dirty="0"/>
          </a:p>
          <a:p>
            <a:pPr indent="0" marL="0">
              <a:lnSpc>
                <a:spcPts val="1900"/>
              </a:lnSpc>
              <a:buNone/>
            </a:pPr>
            <a:r>
              <a:rPr lang="en-US" sz="1300" b="1" dirty="0">
                <a:solidFill>
                  <a:srgbClr val="2E9E8F"/>
                </a:solidFill>
                <a:latin typeface="Verdana" pitchFamily="34" charset="0"/>
                <a:ea typeface="Verdana" pitchFamily="34" charset="-122"/>
                <a:cs typeface="Verdana" pitchFamily="34" charset="-120"/>
              </a:rPr>
              <a:t>Overall accuracy is 87.7%.</a:t>
            </a:r>
            <a:endParaRPr lang="en-US" sz="1300" dirty="0"/>
          </a:p>
        </p:txBody>
      </p:sp>
      <p:sp>
        <p:nvSpPr>
          <p:cNvPr id="8" name="Shape 6"/>
          <p:cNvSpPr/>
          <p:nvPr/>
        </p:nvSpPr>
        <p:spPr>
          <a:xfrm>
            <a:off x="6263640" y="1737360"/>
            <a:ext cx="5257800" cy="3657600"/>
          </a:xfrm>
          <a:prstGeom prst="roundRect">
            <a:avLst>
              <a:gd name="adj" fmla="val 2000"/>
            </a:avLst>
          </a:prstGeom>
          <a:solidFill>
            <a:srgbClr val="1E3542"/>
          </a:solidFill>
          <a:ln w="12700">
            <a:solidFill>
              <a:srgbClr val="24404F"/>
            </a:solidFill>
            <a:prstDash val="solid"/>
          </a:ln>
        </p:spPr>
      </p:sp>
      <p:sp>
        <p:nvSpPr>
          <p:cNvPr id="9" name="Text 7"/>
          <p:cNvSpPr/>
          <p:nvPr/>
        </p:nvSpPr>
        <p:spPr>
          <a:xfrm>
            <a:off x="6492240" y="1920240"/>
            <a:ext cx="4754880" cy="365760"/>
          </a:xfrm>
          <a:prstGeom prst="rect">
            <a:avLst/>
          </a:prstGeom>
          <a:noFill/>
          <a:ln/>
        </p:spPr>
        <p:txBody>
          <a:bodyPr wrap="square" lIns="0" tIns="0" rIns="0" bIns="0" rtlCol="0" anchor="ctr"/>
          <a:lstStyle/>
          <a:p>
            <a:pPr indent="0" marL="0">
              <a:buNone/>
            </a:pPr>
            <a:r>
              <a:rPr lang="en-US" sz="1800" b="1" dirty="0">
                <a:solidFill>
                  <a:srgbClr val="C8434F"/>
                </a:solidFill>
                <a:latin typeface="Verdana" pitchFamily="34" charset="0"/>
                <a:ea typeface="Verdana" pitchFamily="34" charset="-122"/>
                <a:cs typeface="Verdana" pitchFamily="34" charset="-120"/>
              </a:rPr>
              <a:t>Accident risk</a:t>
            </a:r>
            <a:endParaRPr lang="en-US" sz="1800" dirty="0"/>
          </a:p>
        </p:txBody>
      </p:sp>
      <p:sp>
        <p:nvSpPr>
          <p:cNvPr id="10" name="Text 8"/>
          <p:cNvSpPr/>
          <p:nvPr/>
        </p:nvSpPr>
        <p:spPr>
          <a:xfrm>
            <a:off x="6492240" y="2331720"/>
            <a:ext cx="4754880" cy="457200"/>
          </a:xfrm>
          <a:prstGeom prst="rect">
            <a:avLst/>
          </a:prstGeom>
          <a:noFill/>
          <a:ln/>
        </p:spPr>
        <p:txBody>
          <a:bodyPr wrap="square" lIns="0" tIns="0" rIns="0" bIns="0" rtlCol="0" anchor="ctr"/>
          <a:lstStyle/>
          <a:p>
            <a:pPr indent="0" marL="0">
              <a:buNone/>
            </a:pPr>
            <a:r>
              <a:rPr lang="en-US" sz="2200" b="1" dirty="0">
                <a:solidFill>
                  <a:srgbClr val="E8EEF1"/>
                </a:solidFill>
                <a:latin typeface="Verdana" pitchFamily="34" charset="0"/>
                <a:ea typeface="Verdana" pitchFamily="34" charset="-122"/>
                <a:cs typeface="Verdana" pitchFamily="34" charset="-120"/>
              </a:rPr>
              <a:t>0.64   /   target 0.75</a:t>
            </a:r>
            <a:endParaRPr lang="en-US" sz="2200" dirty="0"/>
          </a:p>
        </p:txBody>
      </p:sp>
      <p:sp>
        <p:nvSpPr>
          <p:cNvPr id="11" name="Text 9"/>
          <p:cNvSpPr/>
          <p:nvPr/>
        </p:nvSpPr>
        <p:spPr>
          <a:xfrm>
            <a:off x="6492240" y="2926080"/>
            <a:ext cx="4754880" cy="2286000"/>
          </a:xfrm>
          <a:prstGeom prst="rect">
            <a:avLst/>
          </a:prstGeom>
          <a:noFill/>
          <a:ln/>
        </p:spPr>
        <p:txBody>
          <a:bodyPr wrap="square" lIns="0" tIns="0" rIns="0" bIns="0" rtlCol="0" anchor="ctr"/>
          <a:lstStyle/>
          <a:p>
            <a:pPr indent="0" marL="0">
              <a:lnSpc>
                <a:spcPts val="1900"/>
              </a:lnSpc>
              <a:buNone/>
            </a:pPr>
            <a:r>
              <a:rPr lang="en-US" sz="1300" b="1" dirty="0">
                <a:solidFill>
                  <a:srgbClr val="7A96A5"/>
                </a:solidFill>
                <a:latin typeface="Verdana" pitchFamily="34" charset="0"/>
                <a:ea typeface="Verdana" pitchFamily="34" charset="-122"/>
                <a:cs typeface="Verdana" pitchFamily="34" charset="-120"/>
              </a:rPr>
              <a:t>A data problem, and I proved it.</a:t>
            </a:r>
            <a:endParaRPr lang="en-US" sz="1300" dirty="0"/>
          </a:p>
          <a:p>
            <a:pPr indent="0" marL="0">
              <a:lnSpc>
                <a:spcPts val="1900"/>
              </a:lnSpc>
              <a:buNone/>
            </a:pPr>
            <a:endParaRPr lang="en-US" sz="1300" dirty="0"/>
          </a:p>
          <a:p>
            <a:pPr indent="0" marL="0">
              <a:lnSpc>
                <a:spcPts val="1900"/>
              </a:lnSpc>
              <a:buNone/>
            </a:pPr>
            <a:r>
              <a:rPr lang="en-US" sz="1300" dirty="0">
                <a:solidFill>
                  <a:srgbClr val="7A96A5"/>
                </a:solidFill>
                <a:latin typeface="Verdana" pitchFamily="34" charset="0"/>
                <a:ea typeface="Verdana" pitchFamily="34" charset="-122"/>
                <a:cs typeface="Verdana" pitchFamily="34" charset="-120"/>
              </a:rPr>
              <a:t>Accidents occur in only 0.9% of slots — about 1 in 110.</a:t>
            </a:r>
            <a:endParaRPr lang="en-US" sz="1300" dirty="0"/>
          </a:p>
          <a:p>
            <a:pPr indent="0" marL="0">
              <a:lnSpc>
                <a:spcPts val="1900"/>
              </a:lnSpc>
              <a:buNone/>
            </a:pPr>
            <a:endParaRPr lang="en-US" sz="1300" dirty="0"/>
          </a:p>
          <a:p>
            <a:pPr indent="0" marL="0">
              <a:lnSpc>
                <a:spcPts val="1900"/>
              </a:lnSpc>
              <a:buNone/>
            </a:pPr>
            <a:r>
              <a:rPr lang="en-US" sz="1300" b="1" dirty="0">
                <a:solidFill>
                  <a:srgbClr val="4FB3D9"/>
                </a:solidFill>
                <a:latin typeface="Verdana" pitchFamily="34" charset="0"/>
                <a:ea typeface="Verdana" pitchFamily="34" charset="-122"/>
                <a:cs typeface="Verdana" pitchFamily="34" charset="-120"/>
              </a:rPr>
              <a:t>So I ran an experiment to find out whether the fault was mine or the data's →</a:t>
            </a:r>
            <a:endParaRPr lang="en-US" sz="1300" dirty="0"/>
          </a:p>
        </p:txBody>
      </p:sp>
      <p:sp>
        <p:nvSpPr>
          <p:cNvPr id="12" name="Text 10"/>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Reporting a miss honestly is worth more than quietly switching to a metric that flatters the result.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THE EXPERIMENT</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Is it my model, or is it the data?</a:t>
            </a:r>
            <a:endParaRPr lang="en-US" sz="3400" dirty="0"/>
          </a:p>
        </p:txBody>
      </p:sp>
      <p:sp>
        <p:nvSpPr>
          <p:cNvPr id="4" name="Text 2"/>
          <p:cNvSpPr/>
          <p:nvPr/>
        </p:nvSpPr>
        <p:spPr>
          <a:xfrm>
            <a:off x="640080" y="1645920"/>
            <a:ext cx="10881360" cy="457200"/>
          </a:xfrm>
          <a:prstGeom prst="rect">
            <a:avLst/>
          </a:prstGeom>
          <a:noFill/>
          <a:ln/>
        </p:spPr>
        <p:txBody>
          <a:bodyPr wrap="square" rtlCol="0" anchor="ctr"/>
          <a:lstStyle/>
          <a:p>
            <a:pPr indent="0" marL="0">
              <a:buNone/>
            </a:pPr>
            <a:r>
              <a:rPr lang="en-US" sz="1600" dirty="0">
                <a:solidFill>
                  <a:srgbClr val="7A96A5"/>
                </a:solidFill>
                <a:latin typeface="Verdana" pitchFamily="34" charset="0"/>
                <a:ea typeface="Verdana" pitchFamily="34" charset="-122"/>
                <a:cs typeface="Verdana" pitchFamily="34" charset="-120"/>
              </a:rPr>
              <a:t>When a model underperforms there are only two possibilities — and they need opposite responses.</a:t>
            </a:r>
            <a:endParaRPr lang="en-US" sz="1600" dirty="0"/>
          </a:p>
        </p:txBody>
      </p:sp>
      <p:sp>
        <p:nvSpPr>
          <p:cNvPr id="5" name="Shape 3"/>
          <p:cNvSpPr/>
          <p:nvPr/>
        </p:nvSpPr>
        <p:spPr>
          <a:xfrm>
            <a:off x="640080" y="2240280"/>
            <a:ext cx="5257800" cy="1097280"/>
          </a:xfrm>
          <a:prstGeom prst="roundRect">
            <a:avLst>
              <a:gd name="adj" fmla="val 6667"/>
            </a:avLst>
          </a:prstGeom>
          <a:solidFill>
            <a:srgbClr val="1E3542"/>
          </a:solidFill>
          <a:ln w="12700">
            <a:solidFill>
              <a:srgbClr val="24404F"/>
            </a:solidFill>
            <a:prstDash val="solid"/>
          </a:ln>
        </p:spPr>
      </p:sp>
      <p:sp>
        <p:nvSpPr>
          <p:cNvPr id="6" name="Text 4"/>
          <p:cNvSpPr/>
          <p:nvPr/>
        </p:nvSpPr>
        <p:spPr>
          <a:xfrm>
            <a:off x="868680" y="2514600"/>
            <a:ext cx="4754880" cy="457200"/>
          </a:xfrm>
          <a:prstGeom prst="rect">
            <a:avLst/>
          </a:prstGeom>
          <a:noFill/>
          <a:ln/>
        </p:spPr>
        <p:txBody>
          <a:bodyPr wrap="square" lIns="0" tIns="0" rIns="0" bIns="0" rtlCol="0" anchor="ctr"/>
          <a:lstStyle/>
          <a:p>
            <a:pPr indent="0" marL="0">
              <a:buNone/>
            </a:pPr>
            <a:r>
              <a:rPr lang="en-US" sz="1500" dirty="0">
                <a:solidFill>
                  <a:srgbClr val="E8EEF1"/>
                </a:solidFill>
                <a:latin typeface="Verdana" pitchFamily="34" charset="0"/>
                <a:ea typeface="Verdana" pitchFamily="34" charset="-122"/>
                <a:cs typeface="Verdana" pitchFamily="34" charset="-120"/>
              </a:rPr>
              <a:t>1.  The model is bad   →   try harder</a:t>
            </a:r>
            <a:endParaRPr lang="en-US" sz="1500" dirty="0"/>
          </a:p>
        </p:txBody>
      </p:sp>
      <p:sp>
        <p:nvSpPr>
          <p:cNvPr id="7" name="Shape 5"/>
          <p:cNvSpPr/>
          <p:nvPr/>
        </p:nvSpPr>
        <p:spPr>
          <a:xfrm>
            <a:off x="6263640" y="2240280"/>
            <a:ext cx="5257800" cy="1097280"/>
          </a:xfrm>
          <a:prstGeom prst="roundRect">
            <a:avLst>
              <a:gd name="adj" fmla="val 6667"/>
            </a:avLst>
          </a:prstGeom>
          <a:solidFill>
            <a:srgbClr val="1E3542"/>
          </a:solidFill>
          <a:ln w="12700">
            <a:solidFill>
              <a:srgbClr val="24404F"/>
            </a:solidFill>
            <a:prstDash val="solid"/>
          </a:ln>
        </p:spPr>
      </p:sp>
      <p:sp>
        <p:nvSpPr>
          <p:cNvPr id="8" name="Text 6"/>
          <p:cNvSpPr/>
          <p:nvPr/>
        </p:nvSpPr>
        <p:spPr>
          <a:xfrm>
            <a:off x="6492240" y="2514600"/>
            <a:ext cx="4754880" cy="457200"/>
          </a:xfrm>
          <a:prstGeom prst="rect">
            <a:avLst/>
          </a:prstGeom>
          <a:noFill/>
          <a:ln/>
        </p:spPr>
        <p:txBody>
          <a:bodyPr wrap="square" lIns="0" tIns="0" rIns="0" bIns="0" rtlCol="0" anchor="ctr"/>
          <a:lstStyle/>
          <a:p>
            <a:pPr indent="0" marL="0">
              <a:buNone/>
            </a:pPr>
            <a:r>
              <a:rPr lang="en-US" sz="1500" dirty="0">
                <a:solidFill>
                  <a:srgbClr val="E8EEF1"/>
                </a:solidFill>
                <a:latin typeface="Verdana" pitchFamily="34" charset="0"/>
                <a:ea typeface="Verdana" pitchFamily="34" charset="-122"/>
                <a:cs typeface="Verdana" pitchFamily="34" charset="-120"/>
              </a:rPr>
              <a:t>2.  The data lacks the answer   →   stop</a:t>
            </a:r>
            <a:endParaRPr lang="en-US" sz="1500" dirty="0"/>
          </a:p>
        </p:txBody>
      </p:sp>
      <p:sp>
        <p:nvSpPr>
          <p:cNvPr id="9" name="Text 7"/>
          <p:cNvSpPr/>
          <p:nvPr/>
        </p:nvSpPr>
        <p:spPr>
          <a:xfrm>
            <a:off x="640080" y="3520440"/>
            <a:ext cx="10881360" cy="548640"/>
          </a:xfrm>
          <a:prstGeom prst="rect">
            <a:avLst/>
          </a:prstGeom>
          <a:noFill/>
          <a:ln/>
        </p:spPr>
        <p:txBody>
          <a:bodyPr wrap="square" rtlCol="0" anchor="ctr"/>
          <a:lstStyle/>
          <a:p>
            <a:pPr indent="0" marL="0">
              <a:buNone/>
            </a:pPr>
            <a:r>
              <a:rPr lang="en-US" sz="1500" b="1" dirty="0">
                <a:solidFill>
                  <a:srgbClr val="E0B341"/>
                </a:solidFill>
                <a:latin typeface="Verdana" pitchFamily="34" charset="0"/>
                <a:ea typeface="Verdana" pitchFamily="34" charset="-122"/>
                <a:cs typeface="Verdana" pitchFamily="34" charset="-120"/>
              </a:rPr>
              <a:t>So I built a deliberately CHEATING model — allowed to see the exact moment being predicted, which no real forecast could ever have.</a:t>
            </a:r>
            <a:endParaRPr lang="en-US" sz="1500" dirty="0"/>
          </a:p>
        </p:txBody>
      </p:sp>
      <p:sp>
        <p:nvSpPr>
          <p:cNvPr id="10" name="Shape 8"/>
          <p:cNvSpPr/>
          <p:nvPr/>
        </p:nvSpPr>
        <p:spPr>
          <a:xfrm>
            <a:off x="640080" y="4206240"/>
            <a:ext cx="3520440" cy="1371600"/>
          </a:xfrm>
          <a:prstGeom prst="roundRect">
            <a:avLst>
              <a:gd name="adj" fmla="val 5333"/>
            </a:avLst>
          </a:prstGeom>
          <a:solidFill>
            <a:srgbClr val="1E3542"/>
          </a:solidFill>
          <a:ln w="12700">
            <a:solidFill>
              <a:srgbClr val="24404F"/>
            </a:solidFill>
            <a:prstDash val="solid"/>
          </a:ln>
        </p:spPr>
      </p:sp>
      <p:sp>
        <p:nvSpPr>
          <p:cNvPr id="11" name="Text 9"/>
          <p:cNvSpPr/>
          <p:nvPr/>
        </p:nvSpPr>
        <p:spPr>
          <a:xfrm>
            <a:off x="822960" y="4370832"/>
            <a:ext cx="3154680" cy="603504"/>
          </a:xfrm>
          <a:prstGeom prst="rect">
            <a:avLst/>
          </a:prstGeom>
          <a:noFill/>
          <a:ln/>
        </p:spPr>
        <p:txBody>
          <a:bodyPr wrap="square" lIns="0" tIns="0" rIns="0" bIns="0" rtlCol="0" anchor="ctr"/>
          <a:lstStyle/>
          <a:p>
            <a:pPr indent="0" marL="0">
              <a:buNone/>
            </a:pPr>
            <a:r>
              <a:rPr lang="en-US" sz="3200" b="1" dirty="0">
                <a:solidFill>
                  <a:srgbClr val="E8EEF1"/>
                </a:solidFill>
                <a:latin typeface="Verdana" pitchFamily="34" charset="0"/>
                <a:ea typeface="Verdana" pitchFamily="34" charset="-122"/>
                <a:cs typeface="Verdana" pitchFamily="34" charset="-120"/>
              </a:rPr>
              <a:t>0.632</a:t>
            </a:r>
            <a:endParaRPr lang="en-US" sz="3200" dirty="0"/>
          </a:p>
        </p:txBody>
      </p:sp>
      <p:sp>
        <p:nvSpPr>
          <p:cNvPr id="12" name="Text 10"/>
          <p:cNvSpPr/>
          <p:nvPr/>
        </p:nvSpPr>
        <p:spPr>
          <a:xfrm>
            <a:off x="822960" y="4992624"/>
            <a:ext cx="31546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honest model</a:t>
            </a:r>
            <a:endParaRPr lang="en-US" sz="1100" dirty="0"/>
          </a:p>
        </p:txBody>
      </p:sp>
      <p:sp>
        <p:nvSpPr>
          <p:cNvPr id="13" name="Shape 11"/>
          <p:cNvSpPr/>
          <p:nvPr/>
        </p:nvSpPr>
        <p:spPr>
          <a:xfrm>
            <a:off x="4315968" y="4206240"/>
            <a:ext cx="3520440" cy="1371600"/>
          </a:xfrm>
          <a:prstGeom prst="roundRect">
            <a:avLst>
              <a:gd name="adj" fmla="val 5333"/>
            </a:avLst>
          </a:prstGeom>
          <a:solidFill>
            <a:srgbClr val="1E3542"/>
          </a:solidFill>
          <a:ln w="12700">
            <a:solidFill>
              <a:srgbClr val="24404F"/>
            </a:solidFill>
            <a:prstDash val="solid"/>
          </a:ln>
        </p:spPr>
      </p:sp>
      <p:sp>
        <p:nvSpPr>
          <p:cNvPr id="14" name="Text 12"/>
          <p:cNvSpPr/>
          <p:nvPr/>
        </p:nvSpPr>
        <p:spPr>
          <a:xfrm>
            <a:off x="4498848" y="4370832"/>
            <a:ext cx="3154680" cy="603504"/>
          </a:xfrm>
          <a:prstGeom prst="rect">
            <a:avLst/>
          </a:prstGeom>
          <a:noFill/>
          <a:ln/>
        </p:spPr>
        <p:txBody>
          <a:bodyPr wrap="square" lIns="0" tIns="0" rIns="0" bIns="0" rtlCol="0" anchor="ctr"/>
          <a:lstStyle/>
          <a:p>
            <a:pPr indent="0" marL="0">
              <a:buNone/>
            </a:pPr>
            <a:r>
              <a:rPr lang="en-US" sz="3200" b="1" dirty="0">
                <a:solidFill>
                  <a:srgbClr val="E8EEF1"/>
                </a:solidFill>
                <a:latin typeface="Verdana" pitchFamily="34" charset="0"/>
                <a:ea typeface="Verdana" pitchFamily="34" charset="-122"/>
                <a:cs typeface="Verdana" pitchFamily="34" charset="-120"/>
              </a:rPr>
              <a:t>0.638</a:t>
            </a:r>
            <a:endParaRPr lang="en-US" sz="3200" dirty="0"/>
          </a:p>
        </p:txBody>
      </p:sp>
      <p:sp>
        <p:nvSpPr>
          <p:cNvPr id="15" name="Text 13"/>
          <p:cNvSpPr/>
          <p:nvPr/>
        </p:nvSpPr>
        <p:spPr>
          <a:xfrm>
            <a:off x="4498848" y="4992624"/>
            <a:ext cx="31546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cheating model</a:t>
            </a:r>
            <a:endParaRPr lang="en-US" sz="1100" dirty="0"/>
          </a:p>
        </p:txBody>
      </p:sp>
      <p:sp>
        <p:nvSpPr>
          <p:cNvPr id="16" name="Shape 14"/>
          <p:cNvSpPr/>
          <p:nvPr/>
        </p:nvSpPr>
        <p:spPr>
          <a:xfrm>
            <a:off x="8001000" y="4206240"/>
            <a:ext cx="3520440" cy="1371600"/>
          </a:xfrm>
          <a:prstGeom prst="roundRect">
            <a:avLst>
              <a:gd name="adj" fmla="val 5333"/>
            </a:avLst>
          </a:prstGeom>
          <a:solidFill>
            <a:srgbClr val="1E3542"/>
          </a:solidFill>
          <a:ln w="12700">
            <a:solidFill>
              <a:srgbClr val="24404F"/>
            </a:solidFill>
            <a:prstDash val="solid"/>
          </a:ln>
        </p:spPr>
      </p:sp>
      <p:sp>
        <p:nvSpPr>
          <p:cNvPr id="17" name="Text 15"/>
          <p:cNvSpPr/>
          <p:nvPr/>
        </p:nvSpPr>
        <p:spPr>
          <a:xfrm>
            <a:off x="8183880" y="4370832"/>
            <a:ext cx="3154680" cy="603504"/>
          </a:xfrm>
          <a:prstGeom prst="rect">
            <a:avLst/>
          </a:prstGeom>
          <a:noFill/>
          <a:ln/>
        </p:spPr>
        <p:txBody>
          <a:bodyPr wrap="square" lIns="0" tIns="0" rIns="0" bIns="0" rtlCol="0" anchor="ctr"/>
          <a:lstStyle/>
          <a:p>
            <a:pPr indent="0" marL="0">
              <a:buNone/>
            </a:pPr>
            <a:r>
              <a:rPr lang="en-US" sz="3200" b="1" dirty="0">
                <a:solidFill>
                  <a:srgbClr val="C8434F"/>
                </a:solidFill>
                <a:latin typeface="Verdana" pitchFamily="34" charset="0"/>
                <a:ea typeface="Verdana" pitchFamily="34" charset="-122"/>
                <a:cs typeface="Verdana" pitchFamily="34" charset="-120"/>
              </a:rPr>
              <a:t>+0.006</a:t>
            </a:r>
            <a:endParaRPr lang="en-US" sz="3200" dirty="0"/>
          </a:p>
        </p:txBody>
      </p:sp>
      <p:sp>
        <p:nvSpPr>
          <p:cNvPr id="18" name="Text 16"/>
          <p:cNvSpPr/>
          <p:nvPr/>
        </p:nvSpPr>
        <p:spPr>
          <a:xfrm>
            <a:off x="8183880" y="4992624"/>
            <a:ext cx="31546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gain from cheating</a:t>
            </a:r>
            <a:endParaRPr lang="en-US" sz="1100" dirty="0"/>
          </a:p>
        </p:txBody>
      </p:sp>
      <p:sp>
        <p:nvSpPr>
          <p:cNvPr id="19" name="Text 17"/>
          <p:cNvSpPr/>
          <p:nvPr/>
        </p:nvSpPr>
        <p:spPr>
          <a:xfrm>
            <a:off x="640080" y="5715000"/>
            <a:ext cx="10881360" cy="457200"/>
          </a:xfrm>
          <a:prstGeom prst="rect">
            <a:avLst/>
          </a:prstGeom>
          <a:noFill/>
          <a:ln/>
        </p:spPr>
        <p:txBody>
          <a:bodyPr wrap="square" rtlCol="0" anchor="ctr"/>
          <a:lstStyle/>
          <a:p>
            <a:pPr indent="0" marL="0">
              <a:buNone/>
            </a:pPr>
            <a:r>
              <a:rPr lang="en-US" sz="1500" b="1" dirty="0">
                <a:solidFill>
                  <a:srgbClr val="E8EEF1"/>
                </a:solidFill>
                <a:latin typeface="Verdana" pitchFamily="34" charset="0"/>
                <a:ea typeface="Verdana" pitchFamily="34" charset="-122"/>
                <a:cs typeface="Verdana" pitchFamily="34" charset="-120"/>
              </a:rPr>
              <a:t>Cheating bought nothing. The information simply isn't in this data — no amount of tuning reaches 0.75.</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USEFUL ANYWAY</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A weak model that still saves time</a:t>
            </a:r>
            <a:endParaRPr lang="en-US" sz="3400" dirty="0"/>
          </a:p>
        </p:txBody>
      </p:sp>
      <p:sp>
        <p:nvSpPr>
          <p:cNvPr id="4" name="Text 2"/>
          <p:cNvSpPr/>
          <p:nvPr/>
        </p:nvSpPr>
        <p:spPr>
          <a:xfrm>
            <a:off x="640080" y="1691640"/>
            <a:ext cx="10881360" cy="502920"/>
          </a:xfrm>
          <a:prstGeom prst="rect">
            <a:avLst/>
          </a:prstGeom>
          <a:noFill/>
          <a:ln/>
        </p:spPr>
        <p:txBody>
          <a:bodyPr wrap="square" rtlCol="0" anchor="ctr"/>
          <a:lstStyle/>
          <a:p>
            <a:pPr indent="0" marL="0">
              <a:buNone/>
            </a:pPr>
            <a:r>
              <a:rPr lang="en-US" sz="1600" dirty="0">
                <a:solidFill>
                  <a:srgbClr val="7A96A5"/>
                </a:solidFill>
                <a:latin typeface="Verdana" pitchFamily="34" charset="0"/>
                <a:ea typeface="Verdana" pitchFamily="34" charset="-122"/>
                <a:cs typeface="Verdana" pitchFamily="34" charset="-120"/>
              </a:rPr>
              <a:t>Absolute accuracy is poor. But the ranking still works — and ranking is what a patrol team actually acts on.</a:t>
            </a:r>
            <a:endParaRPr lang="en-US" sz="1600" dirty="0"/>
          </a:p>
        </p:txBody>
      </p:sp>
      <p:sp>
        <p:nvSpPr>
          <p:cNvPr id="5" name="Shape 3"/>
          <p:cNvSpPr/>
          <p:nvPr/>
        </p:nvSpPr>
        <p:spPr>
          <a:xfrm>
            <a:off x="640080" y="2377440"/>
            <a:ext cx="10881360" cy="1920240"/>
          </a:xfrm>
          <a:prstGeom prst="roundRect">
            <a:avLst>
              <a:gd name="adj" fmla="val 3810"/>
            </a:avLst>
          </a:prstGeom>
          <a:solidFill>
            <a:srgbClr val="1E3542"/>
          </a:solidFill>
          <a:ln w="12700">
            <a:solidFill>
              <a:srgbClr val="24404F"/>
            </a:solidFill>
            <a:prstDash val="solid"/>
          </a:ln>
        </p:spPr>
      </p:sp>
      <p:sp>
        <p:nvSpPr>
          <p:cNvPr id="6" name="Text 4"/>
          <p:cNvSpPr/>
          <p:nvPr/>
        </p:nvSpPr>
        <p:spPr>
          <a:xfrm>
            <a:off x="914400" y="2606040"/>
            <a:ext cx="2377440" cy="914400"/>
          </a:xfrm>
          <a:prstGeom prst="rect">
            <a:avLst/>
          </a:prstGeom>
          <a:noFill/>
          <a:ln/>
        </p:spPr>
        <p:txBody>
          <a:bodyPr wrap="square" lIns="0" tIns="0" rIns="0" bIns="0" rtlCol="0" anchor="ctr"/>
          <a:lstStyle/>
          <a:p>
            <a:pPr indent="0" marL="0">
              <a:buNone/>
            </a:pPr>
            <a:r>
              <a:rPr lang="en-US" sz="5200" b="1" dirty="0">
                <a:solidFill>
                  <a:srgbClr val="2E9E8F"/>
                </a:solidFill>
                <a:latin typeface="Verdana" pitchFamily="34" charset="0"/>
                <a:ea typeface="Verdana" pitchFamily="34" charset="-122"/>
                <a:cs typeface="Verdana" pitchFamily="34" charset="-120"/>
              </a:rPr>
              <a:t>2.64×</a:t>
            </a:r>
            <a:endParaRPr lang="en-US" sz="5200" dirty="0"/>
          </a:p>
        </p:txBody>
      </p:sp>
      <p:sp>
        <p:nvSpPr>
          <p:cNvPr id="7" name="Text 5"/>
          <p:cNvSpPr/>
          <p:nvPr/>
        </p:nvSpPr>
        <p:spPr>
          <a:xfrm>
            <a:off x="3566160" y="2697480"/>
            <a:ext cx="7680960" cy="1371600"/>
          </a:xfrm>
          <a:prstGeom prst="rect">
            <a:avLst/>
          </a:prstGeom>
          <a:noFill/>
          <a:ln/>
        </p:spPr>
        <p:txBody>
          <a:bodyPr wrap="square" lIns="0" tIns="0" rIns="0" bIns="0" rtlCol="0" anchor="ctr"/>
          <a:lstStyle/>
          <a:p>
            <a:pPr indent="0" marL="0">
              <a:lnSpc>
                <a:spcPts val="2200"/>
              </a:lnSpc>
              <a:buNone/>
            </a:pPr>
            <a:r>
              <a:rPr lang="en-US" sz="1900" b="1" dirty="0">
                <a:solidFill>
                  <a:srgbClr val="E8EEF1"/>
                </a:solidFill>
                <a:latin typeface="Verdana" pitchFamily="34" charset="0"/>
                <a:ea typeface="Verdana" pitchFamily="34" charset="-122"/>
                <a:cs typeface="Verdana" pitchFamily="34" charset="-120"/>
              </a:rPr>
              <a:t>more incidents found</a:t>
            </a:r>
            <a:endParaRPr lang="en-US" sz="1900" dirty="0"/>
          </a:p>
          <a:p>
            <a:pPr indent="0" marL="0">
              <a:lnSpc>
                <a:spcPts val="2200"/>
              </a:lnSpc>
              <a:buNone/>
            </a:pPr>
            <a:r>
              <a:rPr lang="en-US" sz="1400" dirty="0">
                <a:solidFill>
                  <a:srgbClr val="7A96A5"/>
                </a:solidFill>
                <a:latin typeface="Verdana" pitchFamily="34" charset="0"/>
                <a:ea typeface="Verdana" pitchFamily="34" charset="-122"/>
                <a:cs typeface="Verdana" pitchFamily="34" charset="-120"/>
              </a:rPr>
              <a:t>Patrol only the 10% of road-hours the model ranks riskiest, and you find 2.6 times as many incidents as patrolling at random.</a:t>
            </a:r>
            <a:endParaRPr lang="en-US" sz="1900" dirty="0"/>
          </a:p>
        </p:txBody>
      </p:sp>
      <p:sp>
        <p:nvSpPr>
          <p:cNvPr id="8" name="Text 6"/>
          <p:cNvSpPr/>
          <p:nvPr/>
        </p:nvSpPr>
        <p:spPr>
          <a:xfrm>
            <a:off x="640080" y="4572000"/>
            <a:ext cx="10881360" cy="822960"/>
          </a:xfrm>
          <a:prstGeom prst="rect">
            <a:avLst/>
          </a:prstGeom>
          <a:noFill/>
          <a:ln/>
        </p:spPr>
        <p:txBody>
          <a:bodyPr wrap="square" rtlCol="0" anchor="ctr"/>
          <a:lstStyle/>
          <a:p>
            <a:pPr indent="0" marL="0">
              <a:buNone/>
            </a:pPr>
            <a:r>
              <a:rPr lang="en-US" sz="1500" dirty="0">
                <a:solidFill>
                  <a:srgbClr val="E8EEF1"/>
                </a:solidFill>
                <a:latin typeface="Verdana" pitchFamily="34" charset="0"/>
                <a:ea typeface="Verdana" pitchFamily="34" charset="-122"/>
                <a:cs typeface="Verdana" pitchFamily="34" charset="-120"/>
              </a:rPr>
              <a:t>Recommendation: judge this feature on ranking, not on the original metric — and collect road-geometry and collision-history data before promising more.</a:t>
            </a:r>
            <a:endParaRPr lang="en-US" sz="1500" dirty="0"/>
          </a:p>
        </p:txBody>
      </p:sp>
      <p:sp>
        <p:nvSpPr>
          <p:cNvPr id="9" name="Text 7"/>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A 'failed' model can still deliver real operational value if you measure the right thing.</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BEYOND THE BRIEF</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Three things I added</a:t>
            </a:r>
            <a:endParaRPr lang="en-US" sz="3400" dirty="0"/>
          </a:p>
        </p:txBody>
      </p:sp>
      <p:sp>
        <p:nvSpPr>
          <p:cNvPr id="4" name="Shape 2"/>
          <p:cNvSpPr/>
          <p:nvPr/>
        </p:nvSpPr>
        <p:spPr>
          <a:xfrm>
            <a:off x="640080" y="1783080"/>
            <a:ext cx="10881360" cy="1298448"/>
          </a:xfrm>
          <a:prstGeom prst="roundRect">
            <a:avLst>
              <a:gd name="adj" fmla="val 5634"/>
            </a:avLst>
          </a:prstGeom>
          <a:solidFill>
            <a:srgbClr val="1E3542"/>
          </a:solidFill>
          <a:ln w="12700">
            <a:solidFill>
              <a:srgbClr val="24404F"/>
            </a:solidFill>
            <a:prstDash val="solid"/>
          </a:ln>
        </p:spPr>
      </p:sp>
      <p:sp>
        <p:nvSpPr>
          <p:cNvPr id="5" name="Text 3"/>
          <p:cNvSpPr/>
          <p:nvPr/>
        </p:nvSpPr>
        <p:spPr>
          <a:xfrm>
            <a:off x="868680" y="1901952"/>
            <a:ext cx="10424160" cy="347472"/>
          </a:xfrm>
          <a:prstGeom prst="rect">
            <a:avLst/>
          </a:prstGeom>
          <a:noFill/>
          <a:ln/>
        </p:spPr>
        <p:txBody>
          <a:bodyPr wrap="square" lIns="0" tIns="0" rIns="0" bIns="0" rtlCol="0" anchor="ctr"/>
          <a:lstStyle/>
          <a:p>
            <a:pPr indent="0" marL="0">
              <a:buNone/>
            </a:pPr>
            <a:r>
              <a:rPr lang="en-US" sz="1600" b="1" dirty="0">
                <a:solidFill>
                  <a:srgbClr val="2E9E8F"/>
                </a:solidFill>
                <a:latin typeface="Verdana" pitchFamily="34" charset="0"/>
                <a:ea typeface="Verdana" pitchFamily="34" charset="-122"/>
                <a:cs typeface="Verdana" pitchFamily="34" charset="-120"/>
              </a:rPr>
              <a:t>Confidence ranges</a:t>
            </a:r>
            <a:endParaRPr lang="en-US" sz="1600" dirty="0"/>
          </a:p>
        </p:txBody>
      </p:sp>
      <p:sp>
        <p:nvSpPr>
          <p:cNvPr id="6" name="Text 4"/>
          <p:cNvSpPr/>
          <p:nvPr/>
        </p:nvSpPr>
        <p:spPr>
          <a:xfrm>
            <a:off x="868680" y="2286000"/>
            <a:ext cx="10424160" cy="73152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Every forecast comes with a range, not just a number. It promises to be right 80% of the time — measured on the hidden weeks, it was right 80.5%. It widens in rush-hour rain and narrows on quiet nights.</a:t>
            </a:r>
            <a:endParaRPr lang="en-US" sz="1300" dirty="0"/>
          </a:p>
        </p:txBody>
      </p:sp>
      <p:sp>
        <p:nvSpPr>
          <p:cNvPr id="7" name="Shape 5"/>
          <p:cNvSpPr/>
          <p:nvPr/>
        </p:nvSpPr>
        <p:spPr>
          <a:xfrm>
            <a:off x="640080" y="3264408"/>
            <a:ext cx="10881360" cy="1298448"/>
          </a:xfrm>
          <a:prstGeom prst="roundRect">
            <a:avLst>
              <a:gd name="adj" fmla="val 5634"/>
            </a:avLst>
          </a:prstGeom>
          <a:solidFill>
            <a:srgbClr val="1E3542"/>
          </a:solidFill>
          <a:ln w="12700">
            <a:solidFill>
              <a:srgbClr val="24404F"/>
            </a:solidFill>
            <a:prstDash val="solid"/>
          </a:ln>
        </p:spPr>
      </p:sp>
      <p:sp>
        <p:nvSpPr>
          <p:cNvPr id="8" name="Text 6"/>
          <p:cNvSpPr/>
          <p:nvPr/>
        </p:nvSpPr>
        <p:spPr>
          <a:xfrm>
            <a:off x="868680" y="3383280"/>
            <a:ext cx="10424160" cy="347472"/>
          </a:xfrm>
          <a:prstGeom prst="rect">
            <a:avLst/>
          </a:prstGeom>
          <a:noFill/>
          <a:ln/>
        </p:spPr>
        <p:txBody>
          <a:bodyPr wrap="square" lIns="0" tIns="0" rIns="0" bIns="0" rtlCol="0" anchor="ctr"/>
          <a:lstStyle/>
          <a:p>
            <a:pPr indent="0" marL="0">
              <a:buNone/>
            </a:pPr>
            <a:r>
              <a:rPr lang="en-US" sz="1600" b="1" dirty="0">
                <a:solidFill>
                  <a:srgbClr val="E0B341"/>
                </a:solidFill>
                <a:latin typeface="Verdana" pitchFamily="34" charset="0"/>
                <a:ea typeface="Verdana" pitchFamily="34" charset="-122"/>
                <a:cs typeface="Verdana" pitchFamily="34" charset="-120"/>
              </a:rPr>
              <a:t>A neural network — and a recommendation against it</a:t>
            </a:r>
            <a:endParaRPr lang="en-US" sz="1600" dirty="0"/>
          </a:p>
        </p:txBody>
      </p:sp>
      <p:sp>
        <p:nvSpPr>
          <p:cNvPr id="9" name="Text 7"/>
          <p:cNvSpPr/>
          <p:nvPr/>
        </p:nvSpPr>
        <p:spPr>
          <a:xfrm>
            <a:off x="868680" y="3767328"/>
            <a:ext cx="10424160" cy="73152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Scored 55.59 against the simple model's 55.86. Under half a percent better, with 64,269 parameters and 12× the training time. My recommendation is not to deploy it.</a:t>
            </a:r>
            <a:endParaRPr lang="en-US" sz="1300" dirty="0"/>
          </a:p>
        </p:txBody>
      </p:sp>
      <p:sp>
        <p:nvSpPr>
          <p:cNvPr id="10" name="Shape 8"/>
          <p:cNvSpPr/>
          <p:nvPr/>
        </p:nvSpPr>
        <p:spPr>
          <a:xfrm>
            <a:off x="640080" y="4745736"/>
            <a:ext cx="10881360" cy="1298448"/>
          </a:xfrm>
          <a:prstGeom prst="roundRect">
            <a:avLst>
              <a:gd name="adj" fmla="val 5634"/>
            </a:avLst>
          </a:prstGeom>
          <a:solidFill>
            <a:srgbClr val="1E3542"/>
          </a:solidFill>
          <a:ln w="12700">
            <a:solidFill>
              <a:srgbClr val="24404F"/>
            </a:solidFill>
            <a:prstDash val="solid"/>
          </a:ln>
        </p:spPr>
      </p:sp>
      <p:sp>
        <p:nvSpPr>
          <p:cNvPr id="11" name="Text 9"/>
          <p:cNvSpPr/>
          <p:nvPr/>
        </p:nvSpPr>
        <p:spPr>
          <a:xfrm>
            <a:off x="868680" y="4864608"/>
            <a:ext cx="10424160" cy="347472"/>
          </a:xfrm>
          <a:prstGeom prst="rect">
            <a:avLst/>
          </a:prstGeom>
          <a:noFill/>
          <a:ln/>
        </p:spPr>
        <p:txBody>
          <a:bodyPr wrap="square" lIns="0" tIns="0" rIns="0" bIns="0" rtlCol="0" anchor="ctr"/>
          <a:lstStyle/>
          <a:p>
            <a:pPr indent="0" marL="0">
              <a:buNone/>
            </a:pPr>
            <a:r>
              <a:rPr lang="en-US" sz="1600" b="1" dirty="0">
                <a:solidFill>
                  <a:srgbClr val="4FB3D9"/>
                </a:solidFill>
                <a:latin typeface="Verdana" pitchFamily="34" charset="0"/>
                <a:ea typeface="Verdana" pitchFamily="34" charset="-122"/>
                <a:cs typeface="Verdana" pitchFamily="34" charset="-120"/>
              </a:rPr>
              <a:t>Calibrated risk numbers</a:t>
            </a:r>
            <a:endParaRPr lang="en-US" sz="1600" dirty="0"/>
          </a:p>
        </p:txBody>
      </p:sp>
      <p:sp>
        <p:nvSpPr>
          <p:cNvPr id="12" name="Text 10"/>
          <p:cNvSpPr/>
          <p:nvPr/>
        </p:nvSpPr>
        <p:spPr>
          <a:xfrm>
            <a:off x="868680" y="5248656"/>
            <a:ext cx="10424160" cy="73152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Rare-event models distort their own output scale — it was reporting 44% risk on a road with a 0.96% rate. A correction step brought the average to 0.80% without changing the ranking at all.</a:t>
            </a:r>
            <a:endParaRPr lang="en-US" sz="1300" dirty="0"/>
          </a:p>
        </p:txBody>
      </p:sp>
      <p:sp>
        <p:nvSpPr>
          <p:cNvPr id="13" name="Text 11"/>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Building something and concluding it isn't worth using is a legitimate engineering result.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ENGINEERING</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Built so someone else can check it</a:t>
            </a:r>
            <a:endParaRPr lang="en-US" sz="3400" dirty="0"/>
          </a:p>
        </p:txBody>
      </p:sp>
      <p:sp>
        <p:nvSpPr>
          <p:cNvPr id="4" name="Shape 2"/>
          <p:cNvSpPr/>
          <p:nvPr/>
        </p:nvSpPr>
        <p:spPr>
          <a:xfrm>
            <a:off x="640080" y="1783080"/>
            <a:ext cx="2606040" cy="1371600"/>
          </a:xfrm>
          <a:prstGeom prst="roundRect">
            <a:avLst>
              <a:gd name="adj" fmla="val 5333"/>
            </a:avLst>
          </a:prstGeom>
          <a:solidFill>
            <a:srgbClr val="1E3542"/>
          </a:solidFill>
          <a:ln w="12700">
            <a:solidFill>
              <a:srgbClr val="24404F"/>
            </a:solidFill>
            <a:prstDash val="solid"/>
          </a:ln>
        </p:spPr>
      </p:sp>
      <p:sp>
        <p:nvSpPr>
          <p:cNvPr id="5" name="Text 3"/>
          <p:cNvSpPr/>
          <p:nvPr/>
        </p:nvSpPr>
        <p:spPr>
          <a:xfrm>
            <a:off x="822960" y="1947672"/>
            <a:ext cx="2240280" cy="603504"/>
          </a:xfrm>
          <a:prstGeom prst="rect">
            <a:avLst/>
          </a:prstGeom>
          <a:noFill/>
          <a:ln/>
        </p:spPr>
        <p:txBody>
          <a:bodyPr wrap="square" lIns="0" tIns="0" rIns="0" bIns="0" rtlCol="0" anchor="ctr"/>
          <a:lstStyle/>
          <a:p>
            <a:pPr indent="0" marL="0">
              <a:buNone/>
            </a:pPr>
            <a:r>
              <a:rPr lang="en-US" sz="3200" b="1" dirty="0">
                <a:solidFill>
                  <a:srgbClr val="E8EEF1"/>
                </a:solidFill>
                <a:latin typeface="Verdana" pitchFamily="34" charset="0"/>
                <a:ea typeface="Verdana" pitchFamily="34" charset="-122"/>
                <a:cs typeface="Verdana" pitchFamily="34" charset="-120"/>
              </a:rPr>
              <a:t>21</a:t>
            </a:r>
            <a:endParaRPr lang="en-US" sz="3200" dirty="0"/>
          </a:p>
        </p:txBody>
      </p:sp>
      <p:sp>
        <p:nvSpPr>
          <p:cNvPr id="6" name="Text 4"/>
          <p:cNvSpPr/>
          <p:nvPr/>
        </p:nvSpPr>
        <p:spPr>
          <a:xfrm>
            <a:off x="822960" y="2569464"/>
            <a:ext cx="22402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automated tests, all passing</a:t>
            </a:r>
            <a:endParaRPr lang="en-US" sz="1100" dirty="0"/>
          </a:p>
        </p:txBody>
      </p:sp>
      <p:sp>
        <p:nvSpPr>
          <p:cNvPr id="7" name="Shape 5"/>
          <p:cNvSpPr/>
          <p:nvPr/>
        </p:nvSpPr>
        <p:spPr>
          <a:xfrm>
            <a:off x="3401568" y="1783080"/>
            <a:ext cx="2606040" cy="1371600"/>
          </a:xfrm>
          <a:prstGeom prst="roundRect">
            <a:avLst>
              <a:gd name="adj" fmla="val 5333"/>
            </a:avLst>
          </a:prstGeom>
          <a:solidFill>
            <a:srgbClr val="1E3542"/>
          </a:solidFill>
          <a:ln w="12700">
            <a:solidFill>
              <a:srgbClr val="24404F"/>
            </a:solidFill>
            <a:prstDash val="solid"/>
          </a:ln>
        </p:spPr>
      </p:sp>
      <p:sp>
        <p:nvSpPr>
          <p:cNvPr id="8" name="Text 6"/>
          <p:cNvSpPr/>
          <p:nvPr/>
        </p:nvSpPr>
        <p:spPr>
          <a:xfrm>
            <a:off x="3584448" y="1947672"/>
            <a:ext cx="2240280" cy="603504"/>
          </a:xfrm>
          <a:prstGeom prst="rect">
            <a:avLst/>
          </a:prstGeom>
          <a:noFill/>
          <a:ln/>
        </p:spPr>
        <p:txBody>
          <a:bodyPr wrap="square" lIns="0" tIns="0" rIns="0" bIns="0" rtlCol="0" anchor="ctr"/>
          <a:lstStyle/>
          <a:p>
            <a:pPr indent="0" marL="0">
              <a:buNone/>
            </a:pPr>
            <a:r>
              <a:rPr lang="en-US" sz="3200" b="1" dirty="0">
                <a:solidFill>
                  <a:srgbClr val="2E9E8F"/>
                </a:solidFill>
                <a:latin typeface="Verdana" pitchFamily="34" charset="0"/>
                <a:ea typeface="Verdana" pitchFamily="34" charset="-122"/>
                <a:cs typeface="Verdana" pitchFamily="34" charset="-120"/>
              </a:rPr>
              <a:t>5</a:t>
            </a:r>
            <a:endParaRPr lang="en-US" sz="3200" dirty="0"/>
          </a:p>
        </p:txBody>
      </p:sp>
      <p:sp>
        <p:nvSpPr>
          <p:cNvPr id="9" name="Text 7"/>
          <p:cNvSpPr/>
          <p:nvPr/>
        </p:nvSpPr>
        <p:spPr>
          <a:xfrm>
            <a:off x="3584448" y="2569464"/>
            <a:ext cx="22402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test the leakage rule alone</a:t>
            </a:r>
            <a:endParaRPr lang="en-US" sz="1100" dirty="0"/>
          </a:p>
        </p:txBody>
      </p:sp>
      <p:sp>
        <p:nvSpPr>
          <p:cNvPr id="10" name="Shape 8"/>
          <p:cNvSpPr/>
          <p:nvPr/>
        </p:nvSpPr>
        <p:spPr>
          <a:xfrm>
            <a:off x="6163056" y="1783080"/>
            <a:ext cx="2606040" cy="1371600"/>
          </a:xfrm>
          <a:prstGeom prst="roundRect">
            <a:avLst>
              <a:gd name="adj" fmla="val 5333"/>
            </a:avLst>
          </a:prstGeom>
          <a:solidFill>
            <a:srgbClr val="1E3542"/>
          </a:solidFill>
          <a:ln w="12700">
            <a:solidFill>
              <a:srgbClr val="24404F"/>
            </a:solidFill>
            <a:prstDash val="solid"/>
          </a:ln>
        </p:spPr>
      </p:sp>
      <p:sp>
        <p:nvSpPr>
          <p:cNvPr id="11" name="Text 9"/>
          <p:cNvSpPr/>
          <p:nvPr/>
        </p:nvSpPr>
        <p:spPr>
          <a:xfrm>
            <a:off x="6345936" y="1947672"/>
            <a:ext cx="2240280" cy="603504"/>
          </a:xfrm>
          <a:prstGeom prst="rect">
            <a:avLst/>
          </a:prstGeom>
          <a:noFill/>
          <a:ln/>
        </p:spPr>
        <p:txBody>
          <a:bodyPr wrap="square" lIns="0" tIns="0" rIns="0" bIns="0" rtlCol="0" anchor="ctr"/>
          <a:lstStyle/>
          <a:p>
            <a:pPr indent="0" marL="0">
              <a:buNone/>
            </a:pPr>
            <a:r>
              <a:rPr lang="en-US" sz="3200" b="1" dirty="0">
                <a:solidFill>
                  <a:srgbClr val="E8EEF1"/>
                </a:solidFill>
                <a:latin typeface="Verdana" pitchFamily="34" charset="0"/>
                <a:ea typeface="Verdana" pitchFamily="34" charset="-122"/>
                <a:cs typeface="Verdana" pitchFamily="34" charset="-120"/>
              </a:rPr>
              <a:t>1</a:t>
            </a:r>
            <a:endParaRPr lang="en-US" sz="3200" dirty="0"/>
          </a:p>
        </p:txBody>
      </p:sp>
      <p:sp>
        <p:nvSpPr>
          <p:cNvPr id="12" name="Text 10"/>
          <p:cNvSpPr/>
          <p:nvPr/>
        </p:nvSpPr>
        <p:spPr>
          <a:xfrm>
            <a:off x="6345936" y="2569464"/>
            <a:ext cx="22402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command rebuilds everything</a:t>
            </a:r>
            <a:endParaRPr lang="en-US" sz="1100" dirty="0"/>
          </a:p>
        </p:txBody>
      </p:sp>
      <p:sp>
        <p:nvSpPr>
          <p:cNvPr id="13" name="Shape 11"/>
          <p:cNvSpPr/>
          <p:nvPr/>
        </p:nvSpPr>
        <p:spPr>
          <a:xfrm>
            <a:off x="8924544" y="1783080"/>
            <a:ext cx="2606040" cy="1371600"/>
          </a:xfrm>
          <a:prstGeom prst="roundRect">
            <a:avLst>
              <a:gd name="adj" fmla="val 5333"/>
            </a:avLst>
          </a:prstGeom>
          <a:solidFill>
            <a:srgbClr val="1E3542"/>
          </a:solidFill>
          <a:ln w="12700">
            <a:solidFill>
              <a:srgbClr val="24404F"/>
            </a:solidFill>
            <a:prstDash val="solid"/>
          </a:ln>
        </p:spPr>
      </p:sp>
      <p:sp>
        <p:nvSpPr>
          <p:cNvPr id="14" name="Text 12"/>
          <p:cNvSpPr/>
          <p:nvPr/>
        </p:nvSpPr>
        <p:spPr>
          <a:xfrm>
            <a:off x="9107424" y="1947672"/>
            <a:ext cx="2240280" cy="603504"/>
          </a:xfrm>
          <a:prstGeom prst="rect">
            <a:avLst/>
          </a:prstGeom>
          <a:noFill/>
          <a:ln/>
        </p:spPr>
        <p:txBody>
          <a:bodyPr wrap="square" lIns="0" tIns="0" rIns="0" bIns="0" rtlCol="0" anchor="ctr"/>
          <a:lstStyle/>
          <a:p>
            <a:pPr indent="0" marL="0">
              <a:buNone/>
            </a:pPr>
            <a:r>
              <a:rPr lang="en-US" sz="3200" b="1" dirty="0">
                <a:solidFill>
                  <a:srgbClr val="E8EEF1"/>
                </a:solidFill>
                <a:latin typeface="Verdana" pitchFamily="34" charset="0"/>
                <a:ea typeface="Verdana" pitchFamily="34" charset="-122"/>
                <a:cs typeface="Verdana" pitchFamily="34" charset="-120"/>
              </a:rPr>
              <a:t>0.02s</a:t>
            </a:r>
            <a:endParaRPr lang="en-US" sz="3200" dirty="0"/>
          </a:p>
        </p:txBody>
      </p:sp>
      <p:sp>
        <p:nvSpPr>
          <p:cNvPr id="15" name="Text 13"/>
          <p:cNvSpPr/>
          <p:nvPr/>
        </p:nvSpPr>
        <p:spPr>
          <a:xfrm>
            <a:off x="9107424" y="2569464"/>
            <a:ext cx="2240280" cy="45720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to forecast the whole corridor</a:t>
            </a:r>
            <a:endParaRPr lang="en-US" sz="1100" dirty="0"/>
          </a:p>
        </p:txBody>
      </p:sp>
      <p:sp>
        <p:nvSpPr>
          <p:cNvPr id="16" name="Shape 14"/>
          <p:cNvSpPr/>
          <p:nvPr/>
        </p:nvSpPr>
        <p:spPr>
          <a:xfrm>
            <a:off x="640080" y="3429000"/>
            <a:ext cx="10881360" cy="2103120"/>
          </a:xfrm>
          <a:prstGeom prst="roundRect">
            <a:avLst>
              <a:gd name="adj" fmla="val 3478"/>
            </a:avLst>
          </a:prstGeom>
          <a:solidFill>
            <a:srgbClr val="1E3542"/>
          </a:solidFill>
          <a:ln w="12700">
            <a:solidFill>
              <a:srgbClr val="24404F"/>
            </a:solidFill>
            <a:prstDash val="solid"/>
          </a:ln>
        </p:spPr>
      </p:sp>
      <p:sp>
        <p:nvSpPr>
          <p:cNvPr id="17" name="Text 15"/>
          <p:cNvSpPr/>
          <p:nvPr/>
        </p:nvSpPr>
        <p:spPr>
          <a:xfrm>
            <a:off x="914400" y="3611880"/>
            <a:ext cx="10332720" cy="365760"/>
          </a:xfrm>
          <a:prstGeom prst="rect">
            <a:avLst/>
          </a:prstGeom>
          <a:noFill/>
          <a:ln/>
        </p:spPr>
        <p:txBody>
          <a:bodyPr wrap="square" lIns="0" tIns="0" rIns="0" bIns="0" rtlCol="0" anchor="ctr"/>
          <a:lstStyle/>
          <a:p>
            <a:pPr indent="0" marL="0">
              <a:buNone/>
            </a:pPr>
            <a:r>
              <a:rPr lang="en-US" sz="1600" b="1" dirty="0">
                <a:solidFill>
                  <a:srgbClr val="E8EEF1"/>
                </a:solidFill>
                <a:latin typeface="Verdana" pitchFamily="34" charset="0"/>
                <a:ea typeface="Verdana" pitchFamily="34" charset="-122"/>
                <a:cs typeface="Verdana" pitchFamily="34" charset="-120"/>
              </a:rPr>
              <a:t>What the tests actually protect</a:t>
            </a:r>
            <a:endParaRPr lang="en-US" sz="1600" dirty="0"/>
          </a:p>
        </p:txBody>
      </p:sp>
      <p:sp>
        <p:nvSpPr>
          <p:cNvPr id="18" name="Text 16"/>
          <p:cNvSpPr/>
          <p:nvPr/>
        </p:nvSpPr>
        <p:spPr>
          <a:xfrm>
            <a:off x="914400" y="4023360"/>
            <a:ext cx="10332720" cy="13716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7A96A5"/>
                </a:solidFill>
                <a:latin typeface="Verdana" pitchFamily="34" charset="0"/>
                <a:ea typeface="Verdana" pitchFamily="34" charset="-122"/>
                <a:cs typeface="Verdana" pitchFamily="34" charset="-120"/>
              </a:rPr>
              <a:t>No feature may come from the moment being predicted</a:t>
            </a:r>
            <a:endParaRPr lang="en-US" sz="1300" dirty="0"/>
          </a:p>
          <a:p>
            <a:pPr marL="342900" indent="-342900">
              <a:spcAft>
                <a:spcPts val="600"/>
              </a:spcAft>
              <a:buSzPct val="100000"/>
              <a:buChar char="•"/>
            </a:pPr>
            <a:r>
              <a:rPr lang="en-US" sz="1300" dirty="0">
                <a:solidFill>
                  <a:srgbClr val="7A96A5"/>
                </a:solidFill>
                <a:latin typeface="Verdana" pitchFamily="34" charset="0"/>
                <a:ea typeface="Verdana" pitchFamily="34" charset="-122"/>
                <a:cs typeface="Verdana" pitchFamily="34" charset="-120"/>
              </a:rPr>
              <a:t>No feature may correlate above 0.99 with the target — that would signal a leak</a:t>
            </a:r>
            <a:endParaRPr lang="en-US" sz="1300" dirty="0"/>
          </a:p>
          <a:p>
            <a:pPr marL="342900" indent="-342900">
              <a:spcAft>
                <a:spcPts val="600"/>
              </a:spcAft>
              <a:buSzPct val="100000"/>
              <a:buChar char="•"/>
            </a:pPr>
            <a:r>
              <a:rPr lang="en-US" sz="1300" dirty="0">
                <a:solidFill>
                  <a:srgbClr val="7A96A5"/>
                </a:solidFill>
                <a:latin typeface="Verdana" pitchFamily="34" charset="0"/>
                <a:ea typeface="Verdana" pitchFamily="34" charset="-122"/>
                <a:cs typeface="Verdana" pitchFamily="34" charset="-120"/>
              </a:rPr>
              <a:t>Every lag must point exactly 30 minutes back, never across a gap</a:t>
            </a:r>
            <a:endParaRPr lang="en-US" sz="1300" dirty="0"/>
          </a:p>
          <a:p>
            <a:pPr marL="342900" indent="-342900">
              <a:spcAft>
                <a:spcPts val="600"/>
              </a:spcAft>
              <a:buSzPct val="100000"/>
              <a:buChar char="•"/>
            </a:pPr>
            <a:r>
              <a:rPr lang="en-US" sz="1300" dirty="0">
                <a:solidFill>
                  <a:srgbClr val="7A96A5"/>
                </a:solidFill>
                <a:latin typeface="Verdana" pitchFamily="34" charset="0"/>
                <a:ea typeface="Verdana" pitchFamily="34" charset="-122"/>
                <a:cs typeface="Verdana" pitchFamily="34" charset="-120"/>
              </a:rPr>
              <a:t>The timetable must be complete and evenly spaced</a:t>
            </a:r>
            <a:endParaRPr lang="en-US" sz="1300" dirty="0"/>
          </a:p>
          <a:p>
            <a:pPr marL="342900" indent="-342900">
              <a:spcAft>
                <a:spcPts val="600"/>
              </a:spcAft>
              <a:buSzPct val="100000"/>
              <a:buChar char="•"/>
            </a:pPr>
            <a:r>
              <a:rPr lang="en-US" sz="1300" dirty="0">
                <a:solidFill>
                  <a:srgbClr val="7A96A5"/>
                </a:solidFill>
                <a:latin typeface="Verdana" pitchFamily="34" charset="0"/>
                <a:ea typeface="Verdana" pitchFamily="34" charset="-122"/>
                <a:cs typeface="Verdana" pitchFamily="34" charset="-120"/>
              </a:rPr>
              <a:t>The hand-written maths must match the library version</a:t>
            </a:r>
            <a:endParaRPr lang="en-US" sz="1300" dirty="0"/>
          </a:p>
        </p:txBody>
      </p:sp>
      <p:sp>
        <p:nvSpPr>
          <p:cNvPr id="19" name="Text 17"/>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7A96A5"/>
                </a:solidFill>
                <a:latin typeface="Verdana" pitchFamily="34" charset="0"/>
                <a:ea typeface="Verdana" pitchFamily="34" charset="-122"/>
                <a:cs typeface="Verdana" pitchFamily="34" charset="-120"/>
              </a:rPr>
              <a:t>A crash announces itself. A silent leak doesn't — so the tests target the failures you can't see.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LIVE</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The dashboard</a:t>
            </a:r>
            <a:endParaRPr lang="en-US" sz="3400" dirty="0"/>
          </a:p>
        </p:txBody>
      </p:sp>
      <p:sp>
        <p:nvSpPr>
          <p:cNvPr id="4" name="Shape 2"/>
          <p:cNvSpPr/>
          <p:nvPr/>
        </p:nvSpPr>
        <p:spPr>
          <a:xfrm>
            <a:off x="640080" y="1737360"/>
            <a:ext cx="10881360" cy="3291840"/>
          </a:xfrm>
          <a:prstGeom prst="roundRect">
            <a:avLst>
              <a:gd name="adj" fmla="val 2222"/>
            </a:avLst>
          </a:prstGeom>
          <a:solidFill>
            <a:srgbClr val="1E3542"/>
          </a:solidFill>
          <a:ln w="12700">
            <a:solidFill>
              <a:srgbClr val="24404F"/>
            </a:solidFill>
            <a:prstDash val="solid"/>
          </a:ln>
        </p:spPr>
      </p:sp>
      <p:sp>
        <p:nvSpPr>
          <p:cNvPr id="5" name="Text 3"/>
          <p:cNvSpPr/>
          <p:nvPr/>
        </p:nvSpPr>
        <p:spPr>
          <a:xfrm>
            <a:off x="914400" y="1920240"/>
            <a:ext cx="10332720" cy="365760"/>
          </a:xfrm>
          <a:prstGeom prst="rect">
            <a:avLst/>
          </a:prstGeom>
          <a:noFill/>
          <a:ln/>
        </p:spPr>
        <p:txBody>
          <a:bodyPr wrap="square" lIns="0" tIns="0" rIns="0" bIns="0" rtlCol="0" anchor="ctr"/>
          <a:lstStyle/>
          <a:p>
            <a:pPr indent="0" marL="0">
              <a:buNone/>
            </a:pPr>
            <a:r>
              <a:rPr lang="en-US" sz="1600" b="1" dirty="0">
                <a:solidFill>
                  <a:srgbClr val="E8EEF1"/>
                </a:solidFill>
                <a:latin typeface="Verdana" pitchFamily="34" charset="0"/>
                <a:ea typeface="Verdana" pitchFamily="34" charset="-122"/>
                <a:cs typeface="Verdana" pitchFamily="34" charset="-120"/>
              </a:rPr>
              <a:t>13 views built on the saved results</a:t>
            </a:r>
            <a:endParaRPr lang="en-US" sz="1600" dirty="0"/>
          </a:p>
        </p:txBody>
      </p:sp>
      <p:sp>
        <p:nvSpPr>
          <p:cNvPr id="6" name="Text 4"/>
          <p:cNvSpPr/>
          <p:nvPr/>
        </p:nvSpPr>
        <p:spPr>
          <a:xfrm>
            <a:off x="914400" y="2423160"/>
            <a:ext cx="32004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Live prediction</a:t>
            </a:r>
            <a:endParaRPr lang="en-US" sz="1400" dirty="0"/>
          </a:p>
        </p:txBody>
      </p:sp>
      <p:sp>
        <p:nvSpPr>
          <p:cNvPr id="7" name="Text 5"/>
          <p:cNvSpPr/>
          <p:nvPr/>
        </p:nvSpPr>
        <p:spPr>
          <a:xfrm>
            <a:off x="914400" y="2743200"/>
            <a:ext cx="3200400" cy="50292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all 25 segments, next 30 min</a:t>
            </a:r>
            <a:endParaRPr lang="en-US" sz="1100" dirty="0"/>
          </a:p>
        </p:txBody>
      </p:sp>
      <p:sp>
        <p:nvSpPr>
          <p:cNvPr id="8" name="Text 6"/>
          <p:cNvSpPr/>
          <p:nvPr/>
        </p:nvSpPr>
        <p:spPr>
          <a:xfrm>
            <a:off x="4343400" y="2423160"/>
            <a:ext cx="32004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Risk watchlist</a:t>
            </a:r>
            <a:endParaRPr lang="en-US" sz="1400" dirty="0"/>
          </a:p>
        </p:txBody>
      </p:sp>
      <p:sp>
        <p:nvSpPr>
          <p:cNvPr id="9" name="Text 7"/>
          <p:cNvSpPr/>
          <p:nvPr/>
        </p:nvSpPr>
        <p:spPr>
          <a:xfrm>
            <a:off x="4343400" y="2743200"/>
            <a:ext cx="3200400" cy="50292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ranked for patrol dispatch</a:t>
            </a:r>
            <a:endParaRPr lang="en-US" sz="1100" dirty="0"/>
          </a:p>
        </p:txBody>
      </p:sp>
      <p:sp>
        <p:nvSpPr>
          <p:cNvPr id="10" name="Text 8"/>
          <p:cNvSpPr/>
          <p:nvPr/>
        </p:nvSpPr>
        <p:spPr>
          <a:xfrm>
            <a:off x="7772400" y="2423160"/>
            <a:ext cx="32004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Congestion heatmap</a:t>
            </a:r>
            <a:endParaRPr lang="en-US" sz="1400" dirty="0"/>
          </a:p>
        </p:txBody>
      </p:sp>
      <p:sp>
        <p:nvSpPr>
          <p:cNvPr id="11" name="Text 9"/>
          <p:cNvSpPr/>
          <p:nvPr/>
        </p:nvSpPr>
        <p:spPr>
          <a:xfrm>
            <a:off x="7772400" y="2743200"/>
            <a:ext cx="3200400" cy="50292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where and when it runs hot</a:t>
            </a:r>
            <a:endParaRPr lang="en-US" sz="1100" dirty="0"/>
          </a:p>
        </p:txBody>
      </p:sp>
      <p:sp>
        <p:nvSpPr>
          <p:cNvPr id="12" name="Text 10"/>
          <p:cNvSpPr/>
          <p:nvPr/>
        </p:nvSpPr>
        <p:spPr>
          <a:xfrm>
            <a:off x="914400" y="3566160"/>
            <a:ext cx="32004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Forecast vs actual</a:t>
            </a:r>
            <a:endParaRPr lang="en-US" sz="1400" dirty="0"/>
          </a:p>
        </p:txBody>
      </p:sp>
      <p:sp>
        <p:nvSpPr>
          <p:cNvPr id="13" name="Text 11"/>
          <p:cNvSpPr/>
          <p:nvPr/>
        </p:nvSpPr>
        <p:spPr>
          <a:xfrm>
            <a:off x="914400" y="3886200"/>
            <a:ext cx="3200400" cy="50292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predicted against what happened</a:t>
            </a:r>
            <a:endParaRPr lang="en-US" sz="1100" dirty="0"/>
          </a:p>
        </p:txBody>
      </p:sp>
      <p:sp>
        <p:nvSpPr>
          <p:cNvPr id="14" name="Text 12"/>
          <p:cNvSpPr/>
          <p:nvPr/>
        </p:nvSpPr>
        <p:spPr>
          <a:xfrm>
            <a:off x="4343400" y="3566160"/>
            <a:ext cx="32004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Model performance</a:t>
            </a:r>
            <a:endParaRPr lang="en-US" sz="1400" dirty="0"/>
          </a:p>
        </p:txBody>
      </p:sp>
      <p:sp>
        <p:nvSpPr>
          <p:cNvPr id="15" name="Text 13"/>
          <p:cNvSpPr/>
          <p:nvPr/>
        </p:nvSpPr>
        <p:spPr>
          <a:xfrm>
            <a:off x="4343400" y="3886200"/>
            <a:ext cx="3200400" cy="50292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every method, side by side</a:t>
            </a:r>
            <a:endParaRPr lang="en-US" sz="1100" dirty="0"/>
          </a:p>
        </p:txBody>
      </p:sp>
      <p:sp>
        <p:nvSpPr>
          <p:cNvPr id="16" name="Text 14"/>
          <p:cNvSpPr/>
          <p:nvPr/>
        </p:nvSpPr>
        <p:spPr>
          <a:xfrm>
            <a:off x="7772400" y="3566160"/>
            <a:ext cx="3200400" cy="320040"/>
          </a:xfrm>
          <a:prstGeom prst="rect">
            <a:avLst/>
          </a:prstGeom>
          <a:noFill/>
          <a:ln/>
        </p:spPr>
        <p:txBody>
          <a:bodyPr wrap="square" lIns="0" tIns="0" rIns="0" bIns="0" rtlCol="0" anchor="ctr"/>
          <a:lstStyle/>
          <a:p>
            <a:pPr indent="0" marL="0">
              <a:buNone/>
            </a:pPr>
            <a:r>
              <a:rPr lang="en-US" sz="1400" b="1" dirty="0">
                <a:solidFill>
                  <a:srgbClr val="4FB3D9"/>
                </a:solidFill>
                <a:latin typeface="Verdana" pitchFamily="34" charset="0"/>
                <a:ea typeface="Verdana" pitchFamily="34" charset="-122"/>
                <a:cs typeface="Verdana" pitchFamily="34" charset="-120"/>
              </a:rPr>
              <a:t>Weather vs traffic</a:t>
            </a:r>
            <a:endParaRPr lang="en-US" sz="1400" dirty="0"/>
          </a:p>
        </p:txBody>
      </p:sp>
      <p:sp>
        <p:nvSpPr>
          <p:cNvPr id="17" name="Text 15"/>
          <p:cNvSpPr/>
          <p:nvPr/>
        </p:nvSpPr>
        <p:spPr>
          <a:xfrm>
            <a:off x="7772400" y="3886200"/>
            <a:ext cx="3200400" cy="502920"/>
          </a:xfrm>
          <a:prstGeom prst="rect">
            <a:avLst/>
          </a:prstGeom>
          <a:noFill/>
          <a:ln/>
        </p:spPr>
        <p:txBody>
          <a:bodyPr wrap="square" lIns="0" tIns="0" rIns="0" bIns="0" rtlCol="0" anchor="ctr"/>
          <a:lstStyle/>
          <a:p>
            <a:pPr indent="0" marL="0">
              <a:buNone/>
            </a:pPr>
            <a:r>
              <a:rPr lang="en-US" sz="1100" dirty="0">
                <a:solidFill>
                  <a:srgbClr val="7A96A5"/>
                </a:solidFill>
                <a:latin typeface="Verdana" pitchFamily="34" charset="0"/>
                <a:ea typeface="Verdana" pitchFamily="34" charset="-122"/>
                <a:cs typeface="Verdana" pitchFamily="34" charset="-120"/>
              </a:rPr>
              <a:t>how rain changes flow</a:t>
            </a:r>
            <a:endParaRPr lang="en-US" sz="1100" dirty="0"/>
          </a:p>
        </p:txBody>
      </p:sp>
      <p:sp>
        <p:nvSpPr>
          <p:cNvPr id="18" name="Text 16"/>
          <p:cNvSpPr/>
          <p:nvPr/>
        </p:nvSpPr>
        <p:spPr>
          <a:xfrm>
            <a:off x="640080" y="5257800"/>
            <a:ext cx="10881360" cy="457200"/>
          </a:xfrm>
          <a:prstGeom prst="rect">
            <a:avLst/>
          </a:prstGeom>
          <a:noFill/>
          <a:ln/>
        </p:spPr>
        <p:txBody>
          <a:bodyPr wrap="square" rtlCol="0" anchor="ctr"/>
          <a:lstStyle/>
          <a:p>
            <a:pPr indent="0" marL="0">
              <a:buNone/>
            </a:pPr>
            <a:r>
              <a:rPr lang="en-US" sz="1500" b="1" dirty="0">
                <a:solidFill>
                  <a:srgbClr val="2E9E8F"/>
                </a:solidFill>
                <a:latin typeface="Courier New" pitchFamily="34" charset="0"/>
                <a:ea typeface="Courier New" pitchFamily="34" charset="-122"/>
                <a:cs typeface="Courier New" pitchFamily="34" charset="-120"/>
              </a:rPr>
              <a:t>Safest live demo:    python demo.py    — prints the whole story in 30 seconds, nothing can fail</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B24"/>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rtlCol="0" anchor="ctr"/>
          <a:lstStyle/>
          <a:p>
            <a:pPr indent="0" marL="0">
              <a:buNone/>
            </a:pPr>
            <a:r>
              <a:rPr lang="en-US" sz="1200" b="1" spc="200" kern="0" dirty="0">
                <a:solidFill>
                  <a:srgbClr val="7A96A5"/>
                </a:solidFill>
                <a:latin typeface="Verdana" pitchFamily="34" charset="0"/>
                <a:ea typeface="Verdana" pitchFamily="34" charset="-122"/>
                <a:cs typeface="Verdana" pitchFamily="34" charset="-120"/>
              </a:rPr>
              <a:t>IN SUMMARY</a:t>
            </a:r>
            <a:endParaRPr lang="en-US" sz="1200" dirty="0"/>
          </a:p>
        </p:txBody>
      </p:sp>
      <p:sp>
        <p:nvSpPr>
          <p:cNvPr id="3" name="Text 1"/>
          <p:cNvSpPr/>
          <p:nvPr/>
        </p:nvSpPr>
        <p:spPr>
          <a:xfrm>
            <a:off x="640080" y="713232"/>
            <a:ext cx="10881360" cy="777240"/>
          </a:xfrm>
          <a:prstGeom prst="rect">
            <a:avLst/>
          </a:prstGeom>
          <a:noFill/>
          <a:ln/>
        </p:spPr>
        <p:txBody>
          <a:bodyPr wrap="square" rtlCol="0" anchor="ctr"/>
          <a:lstStyle/>
          <a:p>
            <a:pPr indent="0" marL="0">
              <a:buNone/>
            </a:pPr>
            <a:r>
              <a:rPr lang="en-US" sz="3400" b="1" dirty="0">
                <a:solidFill>
                  <a:srgbClr val="E8EEF1"/>
                </a:solidFill>
                <a:latin typeface="Verdana" pitchFamily="34" charset="0"/>
                <a:ea typeface="Verdana" pitchFamily="34" charset="-122"/>
                <a:cs typeface="Verdana" pitchFamily="34" charset="-120"/>
              </a:rPr>
              <a:t>What I'd want you to remember</a:t>
            </a:r>
            <a:endParaRPr lang="en-US" sz="3400" dirty="0"/>
          </a:p>
        </p:txBody>
      </p:sp>
      <p:sp>
        <p:nvSpPr>
          <p:cNvPr id="4" name="Shape 2"/>
          <p:cNvSpPr/>
          <p:nvPr/>
        </p:nvSpPr>
        <p:spPr>
          <a:xfrm>
            <a:off x="640080" y="1783080"/>
            <a:ext cx="10881360" cy="868680"/>
          </a:xfrm>
          <a:prstGeom prst="roundRect">
            <a:avLst>
              <a:gd name="adj" fmla="val 8421"/>
            </a:avLst>
          </a:prstGeom>
          <a:solidFill>
            <a:srgbClr val="1E3542"/>
          </a:solidFill>
          <a:ln w="12700">
            <a:solidFill>
              <a:srgbClr val="24404F"/>
            </a:solidFill>
            <a:prstDash val="solid"/>
          </a:ln>
        </p:spPr>
      </p:sp>
      <p:sp>
        <p:nvSpPr>
          <p:cNvPr id="5" name="Shape 3"/>
          <p:cNvSpPr/>
          <p:nvPr/>
        </p:nvSpPr>
        <p:spPr>
          <a:xfrm>
            <a:off x="868680" y="2039112"/>
            <a:ext cx="118872" cy="365760"/>
          </a:xfrm>
          <a:prstGeom prst="roundRect">
            <a:avLst>
              <a:gd name="adj" fmla="val 38462"/>
            </a:avLst>
          </a:prstGeom>
          <a:solidFill>
            <a:srgbClr val="2E9E8F"/>
          </a:solidFill>
          <a:ln/>
        </p:spPr>
      </p:sp>
      <p:sp>
        <p:nvSpPr>
          <p:cNvPr id="6" name="Text 4"/>
          <p:cNvSpPr/>
          <p:nvPr/>
        </p:nvSpPr>
        <p:spPr>
          <a:xfrm>
            <a:off x="1188720" y="1892808"/>
            <a:ext cx="3200400" cy="365760"/>
          </a:xfrm>
          <a:prstGeom prst="rect">
            <a:avLst/>
          </a:prstGeom>
          <a:noFill/>
          <a:ln/>
        </p:spPr>
        <p:txBody>
          <a:bodyPr wrap="square" lIns="0" tIns="0" rIns="0" bIns="0" rtlCol="0" anchor="ctr"/>
          <a:lstStyle/>
          <a:p>
            <a:pPr indent="0" marL="0">
              <a:buNone/>
            </a:pPr>
            <a:r>
              <a:rPr lang="en-US" sz="1600" b="1" dirty="0">
                <a:solidFill>
                  <a:srgbClr val="E8EEF1"/>
                </a:solidFill>
                <a:latin typeface="Verdana" pitchFamily="34" charset="0"/>
                <a:ea typeface="Verdana" pitchFamily="34" charset="-122"/>
                <a:cs typeface="Verdana" pitchFamily="34" charset="-120"/>
              </a:rPr>
              <a:t>It works</a:t>
            </a:r>
            <a:endParaRPr lang="en-US" sz="1600" dirty="0"/>
          </a:p>
        </p:txBody>
      </p:sp>
      <p:sp>
        <p:nvSpPr>
          <p:cNvPr id="7" name="Text 5"/>
          <p:cNvSpPr/>
          <p:nvPr/>
        </p:nvSpPr>
        <p:spPr>
          <a:xfrm>
            <a:off x="4480560" y="1911096"/>
            <a:ext cx="6766560" cy="54864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8.9% error, 45% better than assuming nothing changes</a:t>
            </a:r>
            <a:endParaRPr lang="en-US" sz="1300" dirty="0"/>
          </a:p>
        </p:txBody>
      </p:sp>
      <p:sp>
        <p:nvSpPr>
          <p:cNvPr id="8" name="Shape 6"/>
          <p:cNvSpPr/>
          <p:nvPr/>
        </p:nvSpPr>
        <p:spPr>
          <a:xfrm>
            <a:off x="640080" y="2834640"/>
            <a:ext cx="10881360" cy="868680"/>
          </a:xfrm>
          <a:prstGeom prst="roundRect">
            <a:avLst>
              <a:gd name="adj" fmla="val 8421"/>
            </a:avLst>
          </a:prstGeom>
          <a:solidFill>
            <a:srgbClr val="1E3542"/>
          </a:solidFill>
          <a:ln w="12700">
            <a:solidFill>
              <a:srgbClr val="24404F"/>
            </a:solidFill>
            <a:prstDash val="solid"/>
          </a:ln>
        </p:spPr>
      </p:sp>
      <p:sp>
        <p:nvSpPr>
          <p:cNvPr id="9" name="Shape 7"/>
          <p:cNvSpPr/>
          <p:nvPr/>
        </p:nvSpPr>
        <p:spPr>
          <a:xfrm>
            <a:off x="868680" y="3090672"/>
            <a:ext cx="118872" cy="365760"/>
          </a:xfrm>
          <a:prstGeom prst="roundRect">
            <a:avLst>
              <a:gd name="adj" fmla="val 38462"/>
            </a:avLst>
          </a:prstGeom>
          <a:solidFill>
            <a:srgbClr val="E0B341"/>
          </a:solidFill>
          <a:ln/>
        </p:spPr>
      </p:sp>
      <p:sp>
        <p:nvSpPr>
          <p:cNvPr id="10" name="Text 8"/>
          <p:cNvSpPr/>
          <p:nvPr/>
        </p:nvSpPr>
        <p:spPr>
          <a:xfrm>
            <a:off x="1188720" y="2944368"/>
            <a:ext cx="3200400" cy="365760"/>
          </a:xfrm>
          <a:prstGeom prst="rect">
            <a:avLst/>
          </a:prstGeom>
          <a:noFill/>
          <a:ln/>
        </p:spPr>
        <p:txBody>
          <a:bodyPr wrap="square" lIns="0" tIns="0" rIns="0" bIns="0" rtlCol="0" anchor="ctr"/>
          <a:lstStyle/>
          <a:p>
            <a:pPr indent="0" marL="0">
              <a:buNone/>
            </a:pPr>
            <a:r>
              <a:rPr lang="en-US" sz="1600" b="1" dirty="0">
                <a:solidFill>
                  <a:srgbClr val="E8EEF1"/>
                </a:solidFill>
                <a:latin typeface="Verdana" pitchFamily="34" charset="0"/>
                <a:ea typeface="Verdana" pitchFamily="34" charset="-122"/>
                <a:cs typeface="Verdana" pitchFamily="34" charset="-120"/>
              </a:rPr>
              <a:t>The data was broken</a:t>
            </a:r>
            <a:endParaRPr lang="en-US" sz="1600" dirty="0"/>
          </a:p>
        </p:txBody>
      </p:sp>
      <p:sp>
        <p:nvSpPr>
          <p:cNvPr id="11" name="Text 9"/>
          <p:cNvSpPr/>
          <p:nvPr/>
        </p:nvSpPr>
        <p:spPr>
          <a:xfrm>
            <a:off x="4480560" y="2962656"/>
            <a:ext cx="6766560" cy="54864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5,203 time slots were missing and invisible — it would have corrupted everything</a:t>
            </a:r>
            <a:endParaRPr lang="en-US" sz="1300" dirty="0"/>
          </a:p>
        </p:txBody>
      </p:sp>
      <p:sp>
        <p:nvSpPr>
          <p:cNvPr id="12" name="Shape 10"/>
          <p:cNvSpPr/>
          <p:nvPr/>
        </p:nvSpPr>
        <p:spPr>
          <a:xfrm>
            <a:off x="640080" y="3886200"/>
            <a:ext cx="10881360" cy="868680"/>
          </a:xfrm>
          <a:prstGeom prst="roundRect">
            <a:avLst>
              <a:gd name="adj" fmla="val 8421"/>
            </a:avLst>
          </a:prstGeom>
          <a:solidFill>
            <a:srgbClr val="1E3542"/>
          </a:solidFill>
          <a:ln w="12700">
            <a:solidFill>
              <a:srgbClr val="24404F"/>
            </a:solidFill>
            <a:prstDash val="solid"/>
          </a:ln>
        </p:spPr>
      </p:sp>
      <p:sp>
        <p:nvSpPr>
          <p:cNvPr id="13" name="Shape 11"/>
          <p:cNvSpPr/>
          <p:nvPr/>
        </p:nvSpPr>
        <p:spPr>
          <a:xfrm>
            <a:off x="868680" y="4142232"/>
            <a:ext cx="118872" cy="365760"/>
          </a:xfrm>
          <a:prstGeom prst="roundRect">
            <a:avLst>
              <a:gd name="adj" fmla="val 38462"/>
            </a:avLst>
          </a:prstGeom>
          <a:solidFill>
            <a:srgbClr val="E07B39"/>
          </a:solidFill>
          <a:ln/>
        </p:spPr>
      </p:sp>
      <p:sp>
        <p:nvSpPr>
          <p:cNvPr id="14" name="Text 12"/>
          <p:cNvSpPr/>
          <p:nvPr/>
        </p:nvSpPr>
        <p:spPr>
          <a:xfrm>
            <a:off x="1188720" y="3995928"/>
            <a:ext cx="3200400" cy="365760"/>
          </a:xfrm>
          <a:prstGeom prst="rect">
            <a:avLst/>
          </a:prstGeom>
          <a:noFill/>
          <a:ln/>
        </p:spPr>
        <p:txBody>
          <a:bodyPr wrap="square" lIns="0" tIns="0" rIns="0" bIns="0" rtlCol="0" anchor="ctr"/>
          <a:lstStyle/>
          <a:p>
            <a:pPr indent="0" marL="0">
              <a:buNone/>
            </a:pPr>
            <a:r>
              <a:rPr lang="en-US" sz="1600" b="1" dirty="0">
                <a:solidFill>
                  <a:srgbClr val="E8EEF1"/>
                </a:solidFill>
                <a:latin typeface="Verdana" pitchFamily="34" charset="0"/>
                <a:ea typeface="Verdana" pitchFamily="34" charset="-122"/>
                <a:cs typeface="Verdana" pitchFamily="34" charset="-120"/>
              </a:rPr>
              <a:t>One column was a trap</a:t>
            </a:r>
            <a:endParaRPr lang="en-US" sz="1600" dirty="0"/>
          </a:p>
        </p:txBody>
      </p:sp>
      <p:sp>
        <p:nvSpPr>
          <p:cNvPr id="15" name="Text 13"/>
          <p:cNvSpPr/>
          <p:nvPr/>
        </p:nvSpPr>
        <p:spPr>
          <a:xfrm>
            <a:off x="4480560" y="4014216"/>
            <a:ext cx="6766560" cy="54864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congestion_level was secretly the vehicle count — using it gives a fake 99%</a:t>
            </a:r>
            <a:endParaRPr lang="en-US" sz="1300" dirty="0"/>
          </a:p>
        </p:txBody>
      </p:sp>
      <p:sp>
        <p:nvSpPr>
          <p:cNvPr id="16" name="Shape 14"/>
          <p:cNvSpPr/>
          <p:nvPr/>
        </p:nvSpPr>
        <p:spPr>
          <a:xfrm>
            <a:off x="640080" y="4937760"/>
            <a:ext cx="10881360" cy="868680"/>
          </a:xfrm>
          <a:prstGeom prst="roundRect">
            <a:avLst>
              <a:gd name="adj" fmla="val 8421"/>
            </a:avLst>
          </a:prstGeom>
          <a:solidFill>
            <a:srgbClr val="1E3542"/>
          </a:solidFill>
          <a:ln w="12700">
            <a:solidFill>
              <a:srgbClr val="24404F"/>
            </a:solidFill>
            <a:prstDash val="solid"/>
          </a:ln>
        </p:spPr>
      </p:sp>
      <p:sp>
        <p:nvSpPr>
          <p:cNvPr id="17" name="Shape 15"/>
          <p:cNvSpPr/>
          <p:nvPr/>
        </p:nvSpPr>
        <p:spPr>
          <a:xfrm>
            <a:off x="868680" y="5193792"/>
            <a:ext cx="118872" cy="365760"/>
          </a:xfrm>
          <a:prstGeom prst="roundRect">
            <a:avLst>
              <a:gd name="adj" fmla="val 38462"/>
            </a:avLst>
          </a:prstGeom>
          <a:solidFill>
            <a:srgbClr val="C8434F"/>
          </a:solidFill>
          <a:ln/>
        </p:spPr>
      </p:sp>
      <p:sp>
        <p:nvSpPr>
          <p:cNvPr id="18" name="Text 16"/>
          <p:cNvSpPr/>
          <p:nvPr/>
        </p:nvSpPr>
        <p:spPr>
          <a:xfrm>
            <a:off x="1188720" y="5047488"/>
            <a:ext cx="3200400" cy="365760"/>
          </a:xfrm>
          <a:prstGeom prst="rect">
            <a:avLst/>
          </a:prstGeom>
          <a:noFill/>
          <a:ln/>
        </p:spPr>
        <p:txBody>
          <a:bodyPr wrap="square" lIns="0" tIns="0" rIns="0" bIns="0" rtlCol="0" anchor="ctr"/>
          <a:lstStyle/>
          <a:p>
            <a:pPr indent="0" marL="0">
              <a:buNone/>
            </a:pPr>
            <a:r>
              <a:rPr lang="en-US" sz="1600" b="1" dirty="0">
                <a:solidFill>
                  <a:srgbClr val="E8EEF1"/>
                </a:solidFill>
                <a:latin typeface="Verdana" pitchFamily="34" charset="0"/>
                <a:ea typeface="Verdana" pitchFamily="34" charset="-122"/>
                <a:cs typeface="Verdana" pitchFamily="34" charset="-120"/>
              </a:rPr>
              <a:t>One target was impossible</a:t>
            </a:r>
            <a:endParaRPr lang="en-US" sz="1600" dirty="0"/>
          </a:p>
        </p:txBody>
      </p:sp>
      <p:sp>
        <p:nvSpPr>
          <p:cNvPr id="19" name="Text 17"/>
          <p:cNvSpPr/>
          <p:nvPr/>
        </p:nvSpPr>
        <p:spPr>
          <a:xfrm>
            <a:off x="4480560" y="5065776"/>
            <a:ext cx="6766560" cy="548640"/>
          </a:xfrm>
          <a:prstGeom prst="rect">
            <a:avLst/>
          </a:prstGeom>
          <a:noFill/>
          <a:ln/>
        </p:spPr>
        <p:txBody>
          <a:bodyPr wrap="square" lIns="0" tIns="0" rIns="0" bIns="0" rtlCol="0" anchor="ctr"/>
          <a:lstStyle/>
          <a:p>
            <a:pPr indent="0" marL="0">
              <a:buNone/>
            </a:pPr>
            <a:r>
              <a:rPr lang="en-US" sz="1300" dirty="0">
                <a:solidFill>
                  <a:srgbClr val="7A96A5"/>
                </a:solidFill>
                <a:latin typeface="Verdana" pitchFamily="34" charset="0"/>
                <a:ea typeface="Verdana" pitchFamily="34" charset="-122"/>
                <a:cs typeface="Verdana" pitchFamily="34" charset="-120"/>
              </a:rPr>
              <a:t>and I proved it: a cheating model gained only 0.006</a:t>
            </a:r>
            <a:endParaRPr lang="en-US" sz="1300" dirty="0"/>
          </a:p>
        </p:txBody>
      </p:sp>
      <p:sp>
        <p:nvSpPr>
          <p:cNvPr id="20" name="Text 18"/>
          <p:cNvSpPr/>
          <p:nvPr/>
        </p:nvSpPr>
        <p:spPr>
          <a:xfrm>
            <a:off x="640080" y="6035040"/>
            <a:ext cx="10881360" cy="457200"/>
          </a:xfrm>
          <a:prstGeom prst="rect">
            <a:avLst/>
          </a:prstGeom>
          <a:noFill/>
          <a:ln/>
        </p:spPr>
        <p:txBody>
          <a:bodyPr wrap="square" rtlCol="0" anchor="ctr"/>
          <a:lstStyle/>
          <a:p>
            <a:pPr indent="0" marL="0">
              <a:buNone/>
            </a:pPr>
            <a:r>
              <a:rPr lang="en-US" sz="1800" b="1" dirty="0">
                <a:solidFill>
                  <a:srgbClr val="4FB3D9"/>
                </a:solidFill>
                <a:latin typeface="Verdana" pitchFamily="34" charset="0"/>
                <a:ea typeface="Verdana" pitchFamily="34" charset="-122"/>
                <a:cs typeface="Verdana" pitchFamily="34" charset="-120"/>
              </a:rPr>
              <a:t>Thank you  —  questions welcome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2026-08-20T07:10:46Z</dcterms:created>
  <dcterms:modified xsi:type="dcterms:W3CDTF">2026-08-20T07:10:46Z</dcterms:modified>
</cp:coreProperties>
</file>